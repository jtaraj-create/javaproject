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9" r:id="rId3"/>
    <p:sldId id="260" r:id="rId4"/>
    <p:sldId id="262" r:id="rId5"/>
    <p:sldId id="263" r:id="rId6"/>
    <p:sldId id="265" r:id="rId7"/>
    <p:sldId id="301" r:id="rId8"/>
    <p:sldId id="302" r:id="rId9"/>
    <p:sldId id="304" r:id="rId10"/>
    <p:sldId id="305" r:id="rId11"/>
    <p:sldId id="306" r:id="rId12"/>
    <p:sldId id="307" r:id="rId13"/>
    <p:sldId id="308" r:id="rId14"/>
    <p:sldId id="311" r:id="rId15"/>
    <p:sldId id="309" r:id="rId16"/>
    <p:sldId id="310" r:id="rId17"/>
  </p:sldIdLst>
  <p:sldSz cx="9144000" cy="5143500" type="screen16x9"/>
  <p:notesSz cx="6858000" cy="9144000"/>
  <p:embeddedFontLst>
    <p:embeddedFont>
      <p:font typeface="Fira Code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59550A-227F-444E-A69F-735AD816E9A3}">
  <a:tblStyle styleId="{5859550A-227F-444E-A69F-735AD816E9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EA279-9165-4E94-BB47-F98E720E85D7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https://github.com/jtaraj-create/JavaProject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60444-4A75-4FA6-90C6-75DC70511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2374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e7f9c668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7057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899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460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8" r:id="rId6"/>
    <p:sldLayoutId id="2147483662" r:id="rId7"/>
    <p:sldLayoutId id="2147483669" r:id="rId8"/>
    <p:sldLayoutId id="2147483670" r:id="rId9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dijkstras-algorithm-for-adjacency-list-representation-greedy-algo-8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geeksforgeeks.org/dsa/applications-of-queue-data-structure/" TargetMode="External"/><Relationship Id="rId4" Type="http://schemas.openxmlformats.org/officeDocument/2006/relationships/hyperlink" Target="https://www.geeksforgeeks.org/dsa/prims-mst-for-adjacency-list-representation-greedy-algo-6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Priority Queue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Structures Project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orked by:Joana Taraj, Sibora Hysenaj, Abigeil Zenelaj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Implementation in Java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1" name="Google Shape;460;p27"/>
          <p:cNvSpPr txBox="1">
            <a:spLocks/>
          </p:cNvSpPr>
          <p:nvPr/>
        </p:nvSpPr>
        <p:spPr>
          <a:xfrm>
            <a:off x="3942165" y="470938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sz="1400" dirty="0"/>
              <a:t>https://github.com/jtaraj-create/JavaProject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507434" cy="1528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[Introduction]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252723" y="1242288"/>
            <a:ext cx="6600331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 </a:t>
            </a:r>
            <a:r>
              <a:rPr lang="en-US" dirty="0"/>
              <a:t>A </a:t>
            </a:r>
            <a:r>
              <a:rPr lang="en-US" b="1" dirty="0"/>
              <a:t>priority queue</a:t>
            </a:r>
            <a:r>
              <a:rPr lang="en-US" dirty="0"/>
              <a:t> is a type of queue where each element is associated with a priority value, and elements are served based on their priority rather than their insertion order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13" name="Google Shape;513;p31"/>
          <p:cNvSpPr txBox="1">
            <a:spLocks noGrp="1"/>
          </p:cNvSpPr>
          <p:nvPr>
            <p:ph type="subTitle" idx="1"/>
          </p:nvPr>
        </p:nvSpPr>
        <p:spPr>
          <a:xfrm>
            <a:off x="2237403" y="3395907"/>
            <a:ext cx="6413399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fontAlgn="base"/>
            <a:r>
              <a:rPr lang="en" dirty="0"/>
              <a:t>&lt; </a:t>
            </a:r>
            <a:r>
              <a:rPr lang="en-US" dirty="0"/>
              <a:t>CPU Scheduling</a:t>
            </a:r>
          </a:p>
          <a:p>
            <a:pPr fontAlgn="base"/>
            <a:r>
              <a:rPr lang="en-US" dirty="0"/>
              <a:t>Graph algorithms like </a:t>
            </a:r>
            <a:r>
              <a:rPr lang="en-US" dirty="0" err="1">
                <a:hlinkClick r:id="rId3"/>
              </a:rPr>
              <a:t>Dijkstra's</a:t>
            </a:r>
            <a:r>
              <a:rPr lang="en-US" dirty="0">
                <a:hlinkClick r:id="rId3"/>
              </a:rPr>
              <a:t> shortest path algorithm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Prim's Minimum Spanning Tree</a:t>
            </a:r>
            <a:r>
              <a:rPr lang="en-US" dirty="0"/>
              <a:t>, etc.</a:t>
            </a:r>
          </a:p>
          <a:p>
            <a:pPr fontAlgn="base"/>
            <a:r>
              <a:rPr lang="en-US" dirty="0"/>
              <a:t>All </a:t>
            </a:r>
            <a:r>
              <a:rPr lang="en-US" dirty="0">
                <a:hlinkClick r:id="rId5"/>
              </a:rPr>
              <a:t>queue applications</a:t>
            </a:r>
            <a:r>
              <a:rPr lang="en-US" dirty="0"/>
              <a:t> where priority is involved.</a:t>
            </a:r>
          </a:p>
          <a:p>
            <a:pPr fontAlgn="base"/>
            <a:r>
              <a:rPr lang="en-US" dirty="0"/>
              <a:t>Data compression in Huffman code</a:t>
            </a:r>
          </a:p>
          <a:p>
            <a:pPr fontAlgn="base"/>
            <a:r>
              <a:rPr lang="en-US" dirty="0"/>
              <a:t>Event-driven simulation such as customers waiting in a queue.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14" name="Google Shape;514;p31"/>
          <p:cNvSpPr txBox="1">
            <a:spLocks noGrp="1"/>
          </p:cNvSpPr>
          <p:nvPr>
            <p:ph type="subTitle" idx="3"/>
          </p:nvPr>
        </p:nvSpPr>
        <p:spPr>
          <a:xfrm>
            <a:off x="1234689" y="2428876"/>
            <a:ext cx="485853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Application &lt; /2 &gt;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&lt; /1 &gt; </a:t>
            </a:r>
            <a:r>
              <a:rPr lang="en">
                <a:solidFill>
                  <a:schemeClr val="accent6"/>
                </a:solidFill>
              </a:rPr>
              <a:t>{</a:t>
            </a:r>
            <a:r>
              <a:rPr lang="en"/>
              <a:t> </a:t>
            </a:r>
            <a:endParaRPr/>
          </a:p>
        </p:txBody>
      </p:sp>
      <p:grpSp>
        <p:nvGrpSpPr>
          <p:cNvPr id="516" name="Google Shape;516;p31"/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/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1707878" y="3444511"/>
            <a:ext cx="320088" cy="260682"/>
            <a:chOff x="5899913" y="4248925"/>
            <a:chExt cx="639025" cy="524300"/>
          </a:xfrm>
        </p:grpSpPr>
        <p:sp>
          <p:nvSpPr>
            <p:cNvPr id="533" name="Google Shape;533;p31"/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/>
          <p:cNvGrpSpPr/>
          <p:nvPr/>
        </p:nvGrpSpPr>
        <p:grpSpPr>
          <a:xfrm>
            <a:off x="1614876" y="3361546"/>
            <a:ext cx="506092" cy="426611"/>
            <a:chOff x="1665363" y="1706700"/>
            <a:chExt cx="578325" cy="487500"/>
          </a:xfrm>
        </p:grpSpPr>
        <p:sp>
          <p:nvSpPr>
            <p:cNvPr id="549" name="Google Shape;549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31"/>
          <p:cNvGrpSpPr/>
          <p:nvPr/>
        </p:nvGrpSpPr>
        <p:grpSpPr>
          <a:xfrm>
            <a:off x="1084825" y="3203163"/>
            <a:ext cx="506100" cy="1366863"/>
            <a:chOff x="1084825" y="3203163"/>
            <a:chExt cx="506100" cy="1366863"/>
          </a:xfrm>
        </p:grpSpPr>
        <p:cxnSp>
          <p:nvCxnSpPr>
            <p:cNvPr id="552" name="Google Shape;552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54" name="Google Shape;554;p31"/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this </a:t>
            </a:r>
            <a:r>
              <a:rPr lang="en" dirty="0">
                <a:solidFill>
                  <a:schemeClr val="accent2"/>
                </a:solidFill>
              </a:rPr>
              <a:t>‘Project About ?’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80" name="Google Shape;580;p33"/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/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3" name="Google Shape;583;p33"/>
          <p:cNvSpPr txBox="1"/>
          <p:nvPr/>
        </p:nvSpPr>
        <p:spPr>
          <a:xfrm>
            <a:off x="1642225" y="1276463"/>
            <a:ext cx="3531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Objective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1645973" y="2416468"/>
            <a:ext cx="541153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The program allows users to: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6" name="Google Shape;586;p33"/>
          <p:cNvSpPr txBox="1"/>
          <p:nvPr/>
        </p:nvSpPr>
        <p:spPr>
          <a:xfrm>
            <a:off x="1613432" y="1635997"/>
            <a:ext cx="5762777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The main objective of this project is to implement the basic operations of a priority queue in Java.</a:t>
            </a:r>
            <a:b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</a:br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592" name="Google Shape;592;p33"/>
          <p:cNvGrpSpPr/>
          <p:nvPr/>
        </p:nvGrpSpPr>
        <p:grpSpPr>
          <a:xfrm>
            <a:off x="3738433" y="3344279"/>
            <a:ext cx="365741" cy="365763"/>
            <a:chOff x="1776263" y="1291425"/>
            <a:chExt cx="431400" cy="431375"/>
          </a:xfrm>
        </p:grpSpPr>
        <p:sp>
          <p:nvSpPr>
            <p:cNvPr id="593" name="Google Shape;593;p33"/>
            <p:cNvSpPr/>
            <p:nvPr/>
          </p:nvSpPr>
          <p:spPr>
            <a:xfrm>
              <a:off x="1784313" y="1367250"/>
              <a:ext cx="414800" cy="347500"/>
            </a:xfrm>
            <a:custGeom>
              <a:avLst/>
              <a:gdLst/>
              <a:ahLst/>
              <a:cxnLst/>
              <a:rect l="l" t="t" r="r" b="b"/>
              <a:pathLst>
                <a:path w="16592" h="13900" extrusionOk="0">
                  <a:moveTo>
                    <a:pt x="1" y="1"/>
                  </a:moveTo>
                  <a:lnTo>
                    <a:pt x="1" y="13217"/>
                  </a:lnTo>
                  <a:cubicBezTo>
                    <a:pt x="1" y="13596"/>
                    <a:pt x="304" y="13900"/>
                    <a:pt x="683" y="13900"/>
                  </a:cubicBezTo>
                  <a:lnTo>
                    <a:pt x="15928" y="13900"/>
                  </a:lnTo>
                  <a:cubicBezTo>
                    <a:pt x="16289" y="13900"/>
                    <a:pt x="16592" y="13596"/>
                    <a:pt x="16592" y="13217"/>
                  </a:cubicBezTo>
                  <a:lnTo>
                    <a:pt x="165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784313" y="1299950"/>
              <a:ext cx="414800" cy="67325"/>
            </a:xfrm>
            <a:custGeom>
              <a:avLst/>
              <a:gdLst/>
              <a:ahLst/>
              <a:cxnLst/>
              <a:rect l="l" t="t" r="r" b="b"/>
              <a:pathLst>
                <a:path w="16592" h="2693" extrusionOk="0">
                  <a:moveTo>
                    <a:pt x="683" y="0"/>
                  </a:moveTo>
                  <a:cubicBezTo>
                    <a:pt x="304" y="0"/>
                    <a:pt x="1" y="304"/>
                    <a:pt x="1" y="664"/>
                  </a:cubicBezTo>
                  <a:lnTo>
                    <a:pt x="1" y="2693"/>
                  </a:lnTo>
                  <a:lnTo>
                    <a:pt x="16592" y="2693"/>
                  </a:lnTo>
                  <a:lnTo>
                    <a:pt x="16592" y="664"/>
                  </a:lnTo>
                  <a:cubicBezTo>
                    <a:pt x="16592" y="304"/>
                    <a:pt x="16289" y="0"/>
                    <a:pt x="15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840263" y="1422725"/>
              <a:ext cx="303400" cy="50750"/>
            </a:xfrm>
            <a:custGeom>
              <a:avLst/>
              <a:gdLst/>
              <a:ahLst/>
              <a:cxnLst/>
              <a:rect l="l" t="t" r="r" b="b"/>
              <a:pathLst>
                <a:path w="12136" h="2030" extrusionOk="0">
                  <a:moveTo>
                    <a:pt x="0" y="0"/>
                  </a:moveTo>
                  <a:lnTo>
                    <a:pt x="0" y="2029"/>
                  </a:lnTo>
                  <a:lnTo>
                    <a:pt x="12135" y="2029"/>
                  </a:lnTo>
                  <a:lnTo>
                    <a:pt x="12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991938" y="1526525"/>
              <a:ext cx="151725" cy="135125"/>
            </a:xfrm>
            <a:custGeom>
              <a:avLst/>
              <a:gdLst/>
              <a:ahLst/>
              <a:cxnLst/>
              <a:rect l="l" t="t" r="r" b="b"/>
              <a:pathLst>
                <a:path w="6069" h="5405" extrusionOk="0">
                  <a:moveTo>
                    <a:pt x="1" y="1"/>
                  </a:moveTo>
                  <a:lnTo>
                    <a:pt x="1" y="5405"/>
                  </a:lnTo>
                  <a:lnTo>
                    <a:pt x="6068" y="5405"/>
                  </a:lnTo>
                  <a:lnTo>
                    <a:pt x="60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840263" y="1526525"/>
              <a:ext cx="100975" cy="135125"/>
            </a:xfrm>
            <a:custGeom>
              <a:avLst/>
              <a:gdLst/>
              <a:ahLst/>
              <a:cxnLst/>
              <a:rect l="l" t="t" r="r" b="b"/>
              <a:pathLst>
                <a:path w="4039" h="5405" extrusionOk="0">
                  <a:moveTo>
                    <a:pt x="0" y="1"/>
                  </a:moveTo>
                  <a:lnTo>
                    <a:pt x="0" y="5405"/>
                  </a:lnTo>
                  <a:lnTo>
                    <a:pt x="4039" y="5405"/>
                  </a:lnTo>
                  <a:lnTo>
                    <a:pt x="40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2019438" y="1325075"/>
              <a:ext cx="19925" cy="17125"/>
            </a:xfrm>
            <a:custGeom>
              <a:avLst/>
              <a:gdLst/>
              <a:ahLst/>
              <a:cxnLst/>
              <a:rect l="l" t="t" r="r" b="b"/>
              <a:pathLst>
                <a:path w="797" h="685" extrusionOk="0">
                  <a:moveTo>
                    <a:pt x="456" y="0"/>
                  </a:moveTo>
                  <a:cubicBezTo>
                    <a:pt x="152" y="0"/>
                    <a:pt x="0" y="361"/>
                    <a:pt x="209" y="588"/>
                  </a:cubicBezTo>
                  <a:cubicBezTo>
                    <a:pt x="282" y="655"/>
                    <a:pt x="368" y="684"/>
                    <a:pt x="451" y="684"/>
                  </a:cubicBezTo>
                  <a:cubicBezTo>
                    <a:pt x="630" y="684"/>
                    <a:pt x="797" y="548"/>
                    <a:pt x="797" y="342"/>
                  </a:cubicBezTo>
                  <a:cubicBezTo>
                    <a:pt x="797" y="152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2054038" y="1325075"/>
              <a:ext cx="54550" cy="17075"/>
            </a:xfrm>
            <a:custGeom>
              <a:avLst/>
              <a:gdLst/>
              <a:ahLst/>
              <a:cxnLst/>
              <a:rect l="l" t="t" r="r" b="b"/>
              <a:pathLst>
                <a:path w="2182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lnTo>
                    <a:pt x="1764" y="683"/>
                  </a:lnTo>
                  <a:cubicBezTo>
                    <a:pt x="2181" y="645"/>
                    <a:pt x="2181" y="38"/>
                    <a:pt x="17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2119763" y="1325025"/>
              <a:ext cx="55650" cy="17175"/>
            </a:xfrm>
            <a:custGeom>
              <a:avLst/>
              <a:gdLst/>
              <a:ahLst/>
              <a:cxnLst/>
              <a:rect l="l" t="t" r="r" b="b"/>
              <a:pathLst>
                <a:path w="2226" h="687" extrusionOk="0">
                  <a:moveTo>
                    <a:pt x="446" y="1"/>
                  </a:moveTo>
                  <a:cubicBezTo>
                    <a:pt x="0" y="1"/>
                    <a:pt x="0" y="686"/>
                    <a:pt x="446" y="686"/>
                  </a:cubicBezTo>
                  <a:cubicBezTo>
                    <a:pt x="458" y="686"/>
                    <a:pt x="469" y="686"/>
                    <a:pt x="481" y="685"/>
                  </a:cubicBezTo>
                  <a:lnTo>
                    <a:pt x="1828" y="685"/>
                  </a:lnTo>
                  <a:cubicBezTo>
                    <a:pt x="2226" y="647"/>
                    <a:pt x="2226" y="40"/>
                    <a:pt x="1828" y="2"/>
                  </a:cubicBezTo>
                  <a:lnTo>
                    <a:pt x="481" y="2"/>
                  </a:lnTo>
                  <a:cubicBezTo>
                    <a:pt x="469" y="1"/>
                    <a:pt x="458" y="1"/>
                    <a:pt x="4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76263" y="1291425"/>
              <a:ext cx="431400" cy="431375"/>
            </a:xfrm>
            <a:custGeom>
              <a:avLst/>
              <a:gdLst/>
              <a:ahLst/>
              <a:cxnLst/>
              <a:rect l="l" t="t" r="r" b="b"/>
              <a:pathLst>
                <a:path w="17256" h="17255" extrusionOk="0">
                  <a:moveTo>
                    <a:pt x="16282" y="681"/>
                  </a:moveTo>
                  <a:cubicBezTo>
                    <a:pt x="16457" y="681"/>
                    <a:pt x="16592" y="826"/>
                    <a:pt x="16592" y="1005"/>
                  </a:cubicBezTo>
                  <a:lnTo>
                    <a:pt x="16592" y="2693"/>
                  </a:lnTo>
                  <a:lnTo>
                    <a:pt x="664" y="2693"/>
                  </a:lnTo>
                  <a:lnTo>
                    <a:pt x="664" y="1005"/>
                  </a:lnTo>
                  <a:cubicBezTo>
                    <a:pt x="664" y="834"/>
                    <a:pt x="816" y="683"/>
                    <a:pt x="1005" y="683"/>
                  </a:cubicBezTo>
                  <a:lnTo>
                    <a:pt x="16250" y="683"/>
                  </a:lnTo>
                  <a:cubicBezTo>
                    <a:pt x="16261" y="682"/>
                    <a:pt x="16272" y="681"/>
                    <a:pt x="16282" y="681"/>
                  </a:cubicBezTo>
                  <a:close/>
                  <a:moveTo>
                    <a:pt x="16592" y="3375"/>
                  </a:moveTo>
                  <a:lnTo>
                    <a:pt x="16592" y="16250"/>
                  </a:lnTo>
                  <a:cubicBezTo>
                    <a:pt x="16592" y="16440"/>
                    <a:pt x="16440" y="16591"/>
                    <a:pt x="16250" y="16591"/>
                  </a:cubicBezTo>
                  <a:lnTo>
                    <a:pt x="1005" y="16591"/>
                  </a:lnTo>
                  <a:cubicBezTo>
                    <a:pt x="816" y="16591"/>
                    <a:pt x="664" y="16440"/>
                    <a:pt x="664" y="16250"/>
                  </a:cubicBezTo>
                  <a:lnTo>
                    <a:pt x="664" y="3375"/>
                  </a:lnTo>
                  <a:close/>
                  <a:moveTo>
                    <a:pt x="1005" y="0"/>
                  </a:moveTo>
                  <a:cubicBezTo>
                    <a:pt x="436" y="0"/>
                    <a:pt x="0" y="455"/>
                    <a:pt x="0" y="1005"/>
                  </a:cubicBezTo>
                  <a:lnTo>
                    <a:pt x="0" y="16250"/>
                  </a:lnTo>
                  <a:cubicBezTo>
                    <a:pt x="0" y="16819"/>
                    <a:pt x="436" y="17255"/>
                    <a:pt x="1005" y="17255"/>
                  </a:cubicBezTo>
                  <a:lnTo>
                    <a:pt x="16250" y="17255"/>
                  </a:lnTo>
                  <a:cubicBezTo>
                    <a:pt x="16800" y="17255"/>
                    <a:pt x="17255" y="16819"/>
                    <a:pt x="17255" y="16250"/>
                  </a:cubicBezTo>
                  <a:lnTo>
                    <a:pt x="17255" y="1005"/>
                  </a:lnTo>
                  <a:cubicBezTo>
                    <a:pt x="17255" y="455"/>
                    <a:pt x="16800" y="0"/>
                    <a:pt x="16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831713" y="1414650"/>
              <a:ext cx="320000" cy="67350"/>
            </a:xfrm>
            <a:custGeom>
              <a:avLst/>
              <a:gdLst/>
              <a:ahLst/>
              <a:cxnLst/>
              <a:rect l="l" t="t" r="r" b="b"/>
              <a:pathLst>
                <a:path w="12800" h="2694" extrusionOk="0">
                  <a:moveTo>
                    <a:pt x="12136" y="665"/>
                  </a:moveTo>
                  <a:lnTo>
                    <a:pt x="12136" y="2011"/>
                  </a:lnTo>
                  <a:lnTo>
                    <a:pt x="664" y="2011"/>
                  </a:lnTo>
                  <a:lnTo>
                    <a:pt x="664" y="665"/>
                  </a:lnTo>
                  <a:close/>
                  <a:moveTo>
                    <a:pt x="342" y="1"/>
                  </a:moveTo>
                  <a:cubicBezTo>
                    <a:pt x="152" y="1"/>
                    <a:pt x="1" y="153"/>
                    <a:pt x="1" y="323"/>
                  </a:cubicBezTo>
                  <a:lnTo>
                    <a:pt x="1" y="2352"/>
                  </a:lnTo>
                  <a:cubicBezTo>
                    <a:pt x="1" y="2542"/>
                    <a:pt x="152" y="2694"/>
                    <a:pt x="342" y="2694"/>
                  </a:cubicBezTo>
                  <a:lnTo>
                    <a:pt x="12477" y="2694"/>
                  </a:lnTo>
                  <a:cubicBezTo>
                    <a:pt x="12648" y="2694"/>
                    <a:pt x="12800" y="2542"/>
                    <a:pt x="12800" y="2352"/>
                  </a:cubicBezTo>
                  <a:lnTo>
                    <a:pt x="12800" y="323"/>
                  </a:lnTo>
                  <a:cubicBezTo>
                    <a:pt x="12800" y="153"/>
                    <a:pt x="12648" y="1"/>
                    <a:pt x="12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831713" y="1518000"/>
              <a:ext cx="118075" cy="152200"/>
            </a:xfrm>
            <a:custGeom>
              <a:avLst/>
              <a:gdLst/>
              <a:ahLst/>
              <a:cxnLst/>
              <a:rect l="l" t="t" r="r" b="b"/>
              <a:pathLst>
                <a:path w="4723" h="6088" extrusionOk="0">
                  <a:moveTo>
                    <a:pt x="4040" y="683"/>
                  </a:moveTo>
                  <a:lnTo>
                    <a:pt x="4040" y="5405"/>
                  </a:lnTo>
                  <a:lnTo>
                    <a:pt x="664" y="5405"/>
                  </a:lnTo>
                  <a:lnTo>
                    <a:pt x="664" y="683"/>
                  </a:lnTo>
                  <a:close/>
                  <a:moveTo>
                    <a:pt x="342" y="1"/>
                  </a:moveTo>
                  <a:cubicBezTo>
                    <a:pt x="152" y="1"/>
                    <a:pt x="1" y="152"/>
                    <a:pt x="1" y="342"/>
                  </a:cubicBezTo>
                  <a:lnTo>
                    <a:pt x="1" y="5746"/>
                  </a:lnTo>
                  <a:cubicBezTo>
                    <a:pt x="1" y="5917"/>
                    <a:pt x="152" y="6068"/>
                    <a:pt x="342" y="6087"/>
                  </a:cubicBezTo>
                  <a:lnTo>
                    <a:pt x="4381" y="6087"/>
                  </a:lnTo>
                  <a:cubicBezTo>
                    <a:pt x="4570" y="6087"/>
                    <a:pt x="4722" y="5917"/>
                    <a:pt x="4722" y="5746"/>
                  </a:cubicBezTo>
                  <a:lnTo>
                    <a:pt x="4722" y="342"/>
                  </a:lnTo>
                  <a:cubicBezTo>
                    <a:pt x="4722" y="152"/>
                    <a:pt x="4570" y="1"/>
                    <a:pt x="43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983413" y="1518000"/>
              <a:ext cx="168300" cy="152200"/>
            </a:xfrm>
            <a:custGeom>
              <a:avLst/>
              <a:gdLst/>
              <a:ahLst/>
              <a:cxnLst/>
              <a:rect l="l" t="t" r="r" b="b"/>
              <a:pathLst>
                <a:path w="6732" h="6088" extrusionOk="0">
                  <a:moveTo>
                    <a:pt x="5518" y="683"/>
                  </a:moveTo>
                  <a:lnTo>
                    <a:pt x="3357" y="2598"/>
                  </a:lnTo>
                  <a:lnTo>
                    <a:pt x="1214" y="683"/>
                  </a:lnTo>
                  <a:close/>
                  <a:moveTo>
                    <a:pt x="664" y="1100"/>
                  </a:moveTo>
                  <a:lnTo>
                    <a:pt x="2864" y="3034"/>
                  </a:lnTo>
                  <a:lnTo>
                    <a:pt x="664" y="4987"/>
                  </a:lnTo>
                  <a:lnTo>
                    <a:pt x="664" y="1100"/>
                  </a:lnTo>
                  <a:close/>
                  <a:moveTo>
                    <a:pt x="6068" y="1081"/>
                  </a:moveTo>
                  <a:lnTo>
                    <a:pt x="6068" y="4987"/>
                  </a:lnTo>
                  <a:lnTo>
                    <a:pt x="3869" y="3034"/>
                  </a:lnTo>
                  <a:lnTo>
                    <a:pt x="6068" y="1081"/>
                  </a:lnTo>
                  <a:close/>
                  <a:moveTo>
                    <a:pt x="3376" y="3508"/>
                  </a:moveTo>
                  <a:lnTo>
                    <a:pt x="5518" y="5405"/>
                  </a:lnTo>
                  <a:lnTo>
                    <a:pt x="1233" y="5405"/>
                  </a:lnTo>
                  <a:lnTo>
                    <a:pt x="3376" y="3508"/>
                  </a:lnTo>
                  <a:close/>
                  <a:moveTo>
                    <a:pt x="323" y="1"/>
                  </a:moveTo>
                  <a:cubicBezTo>
                    <a:pt x="152" y="20"/>
                    <a:pt x="0" y="171"/>
                    <a:pt x="0" y="342"/>
                  </a:cubicBezTo>
                  <a:lnTo>
                    <a:pt x="0" y="5746"/>
                  </a:lnTo>
                  <a:cubicBezTo>
                    <a:pt x="0" y="5936"/>
                    <a:pt x="152" y="6068"/>
                    <a:pt x="342" y="6087"/>
                  </a:cubicBezTo>
                  <a:lnTo>
                    <a:pt x="6409" y="6087"/>
                  </a:lnTo>
                  <a:cubicBezTo>
                    <a:pt x="6580" y="6068"/>
                    <a:pt x="6732" y="5936"/>
                    <a:pt x="6732" y="5746"/>
                  </a:cubicBezTo>
                  <a:lnTo>
                    <a:pt x="6732" y="342"/>
                  </a:lnTo>
                  <a:cubicBezTo>
                    <a:pt x="6732" y="152"/>
                    <a:pt x="6580" y="1"/>
                    <a:pt x="64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" name="Google Shape;605;p33"/>
          <p:cNvGrpSpPr/>
          <p:nvPr/>
        </p:nvGrpSpPr>
        <p:grpSpPr>
          <a:xfrm>
            <a:off x="6353542" y="3351779"/>
            <a:ext cx="365742" cy="365754"/>
            <a:chOff x="3826463" y="1356825"/>
            <a:chExt cx="366475" cy="366450"/>
          </a:xfrm>
        </p:grpSpPr>
        <p:sp>
          <p:nvSpPr>
            <p:cNvPr id="606" name="Google Shape;606;p33"/>
            <p:cNvSpPr/>
            <p:nvPr/>
          </p:nvSpPr>
          <p:spPr>
            <a:xfrm>
              <a:off x="3833588" y="1420825"/>
              <a:ext cx="351750" cy="294875"/>
            </a:xfrm>
            <a:custGeom>
              <a:avLst/>
              <a:gdLst/>
              <a:ahLst/>
              <a:cxnLst/>
              <a:rect l="l" t="t" r="r" b="b"/>
              <a:pathLst>
                <a:path w="14070" h="11795" extrusionOk="0">
                  <a:moveTo>
                    <a:pt x="0" y="0"/>
                  </a:moveTo>
                  <a:lnTo>
                    <a:pt x="0" y="11226"/>
                  </a:lnTo>
                  <a:cubicBezTo>
                    <a:pt x="0" y="11548"/>
                    <a:pt x="247" y="11795"/>
                    <a:pt x="569" y="11795"/>
                  </a:cubicBezTo>
                  <a:lnTo>
                    <a:pt x="13501" y="11795"/>
                  </a:lnTo>
                  <a:cubicBezTo>
                    <a:pt x="13823" y="11795"/>
                    <a:pt x="14070" y="11548"/>
                    <a:pt x="14070" y="11226"/>
                  </a:cubicBezTo>
                  <a:lnTo>
                    <a:pt x="140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3833588" y="1363950"/>
              <a:ext cx="351750" cy="56900"/>
            </a:xfrm>
            <a:custGeom>
              <a:avLst/>
              <a:gdLst/>
              <a:ahLst/>
              <a:cxnLst/>
              <a:rect l="l" t="t" r="r" b="b"/>
              <a:pathLst>
                <a:path w="14070" h="2276" extrusionOk="0">
                  <a:moveTo>
                    <a:pt x="569" y="0"/>
                  </a:moveTo>
                  <a:cubicBezTo>
                    <a:pt x="247" y="0"/>
                    <a:pt x="0" y="247"/>
                    <a:pt x="0" y="569"/>
                  </a:cubicBezTo>
                  <a:lnTo>
                    <a:pt x="0" y="2275"/>
                  </a:lnTo>
                  <a:lnTo>
                    <a:pt x="14070" y="2275"/>
                  </a:lnTo>
                  <a:lnTo>
                    <a:pt x="14070" y="569"/>
                  </a:lnTo>
                  <a:cubicBezTo>
                    <a:pt x="14070" y="247"/>
                    <a:pt x="13823" y="0"/>
                    <a:pt x="13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3876238" y="1468225"/>
              <a:ext cx="266450" cy="128975"/>
            </a:xfrm>
            <a:custGeom>
              <a:avLst/>
              <a:gdLst/>
              <a:ahLst/>
              <a:cxnLst/>
              <a:rect l="l" t="t" r="r" b="b"/>
              <a:pathLst>
                <a:path w="10658" h="5159" extrusionOk="0">
                  <a:moveTo>
                    <a:pt x="589" y="1"/>
                  </a:moveTo>
                  <a:cubicBezTo>
                    <a:pt x="266" y="1"/>
                    <a:pt x="1" y="266"/>
                    <a:pt x="1" y="569"/>
                  </a:cubicBezTo>
                  <a:lnTo>
                    <a:pt x="1" y="4589"/>
                  </a:lnTo>
                  <a:cubicBezTo>
                    <a:pt x="20" y="4893"/>
                    <a:pt x="266" y="5158"/>
                    <a:pt x="589" y="5158"/>
                  </a:cubicBezTo>
                  <a:lnTo>
                    <a:pt x="10088" y="5158"/>
                  </a:lnTo>
                  <a:cubicBezTo>
                    <a:pt x="10392" y="5158"/>
                    <a:pt x="10657" y="4893"/>
                    <a:pt x="10657" y="4589"/>
                  </a:cubicBezTo>
                  <a:lnTo>
                    <a:pt x="10657" y="569"/>
                  </a:lnTo>
                  <a:cubicBezTo>
                    <a:pt x="10657" y="266"/>
                    <a:pt x="10411" y="1"/>
                    <a:pt x="10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3981013" y="1504250"/>
              <a:ext cx="64475" cy="56925"/>
            </a:xfrm>
            <a:custGeom>
              <a:avLst/>
              <a:gdLst/>
              <a:ahLst/>
              <a:cxnLst/>
              <a:rect l="l" t="t" r="r" b="b"/>
              <a:pathLst>
                <a:path w="2579" h="2277" extrusionOk="0">
                  <a:moveTo>
                    <a:pt x="0" y="1"/>
                  </a:moveTo>
                  <a:lnTo>
                    <a:pt x="0" y="2276"/>
                  </a:lnTo>
                  <a:lnTo>
                    <a:pt x="2579" y="11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937863" y="1639825"/>
              <a:ext cx="33700" cy="28825"/>
            </a:xfrm>
            <a:custGeom>
              <a:avLst/>
              <a:gdLst/>
              <a:ahLst/>
              <a:cxnLst/>
              <a:rect l="l" t="t" r="r" b="b"/>
              <a:pathLst>
                <a:path w="1348" h="1153" extrusionOk="0">
                  <a:moveTo>
                    <a:pt x="570" y="1"/>
                  </a:moveTo>
                  <a:cubicBezTo>
                    <a:pt x="266" y="1"/>
                    <a:pt x="1" y="266"/>
                    <a:pt x="1" y="570"/>
                  </a:cubicBezTo>
                  <a:cubicBezTo>
                    <a:pt x="1" y="918"/>
                    <a:pt x="282" y="1153"/>
                    <a:pt x="582" y="1153"/>
                  </a:cubicBezTo>
                  <a:cubicBezTo>
                    <a:pt x="722" y="1153"/>
                    <a:pt x="866" y="1101"/>
                    <a:pt x="987" y="987"/>
                  </a:cubicBezTo>
                  <a:cubicBezTo>
                    <a:pt x="1347" y="626"/>
                    <a:pt x="1082" y="1"/>
                    <a:pt x="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4032688" y="1385275"/>
              <a:ext cx="17075" cy="14375"/>
            </a:xfrm>
            <a:custGeom>
              <a:avLst/>
              <a:gdLst/>
              <a:ahLst/>
              <a:cxnLst/>
              <a:rect l="l" t="t" r="r" b="b"/>
              <a:pathLst>
                <a:path w="683" h="575" extrusionOk="0">
                  <a:moveTo>
                    <a:pt x="398" y="0"/>
                  </a:moveTo>
                  <a:cubicBezTo>
                    <a:pt x="133" y="0"/>
                    <a:pt x="0" y="304"/>
                    <a:pt x="190" y="493"/>
                  </a:cubicBezTo>
                  <a:cubicBezTo>
                    <a:pt x="245" y="549"/>
                    <a:pt x="314" y="574"/>
                    <a:pt x="384" y="574"/>
                  </a:cubicBezTo>
                  <a:cubicBezTo>
                    <a:pt x="527" y="574"/>
                    <a:pt x="670" y="464"/>
                    <a:pt x="683" y="285"/>
                  </a:cubicBezTo>
                  <a:cubicBezTo>
                    <a:pt x="683" y="133"/>
                    <a:pt x="550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4061588" y="1385275"/>
              <a:ext cx="47425" cy="14250"/>
            </a:xfrm>
            <a:custGeom>
              <a:avLst/>
              <a:gdLst/>
              <a:ahLst/>
              <a:cxnLst/>
              <a:rect l="l" t="t" r="r" b="b"/>
              <a:pathLst>
                <a:path w="1897" h="570" extrusionOk="0">
                  <a:moveTo>
                    <a:pt x="380" y="0"/>
                  </a:moveTo>
                  <a:cubicBezTo>
                    <a:pt x="1" y="0"/>
                    <a:pt x="1" y="569"/>
                    <a:pt x="380" y="569"/>
                  </a:cubicBezTo>
                  <a:lnTo>
                    <a:pt x="1518" y="569"/>
                  </a:lnTo>
                  <a:cubicBezTo>
                    <a:pt x="1897" y="569"/>
                    <a:pt x="1897" y="0"/>
                    <a:pt x="15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4118963" y="1385275"/>
              <a:ext cx="47900" cy="14250"/>
            </a:xfrm>
            <a:custGeom>
              <a:avLst/>
              <a:gdLst/>
              <a:ahLst/>
              <a:cxnLst/>
              <a:rect l="l" t="t" r="r" b="b"/>
              <a:pathLst>
                <a:path w="1916" h="570" extrusionOk="0">
                  <a:moveTo>
                    <a:pt x="379" y="0"/>
                  </a:moveTo>
                  <a:cubicBezTo>
                    <a:pt x="0" y="0"/>
                    <a:pt x="0" y="569"/>
                    <a:pt x="379" y="569"/>
                  </a:cubicBezTo>
                  <a:lnTo>
                    <a:pt x="1517" y="569"/>
                  </a:lnTo>
                  <a:cubicBezTo>
                    <a:pt x="1915" y="569"/>
                    <a:pt x="1915" y="0"/>
                    <a:pt x="15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3826463" y="1356825"/>
              <a:ext cx="366475" cy="366450"/>
            </a:xfrm>
            <a:custGeom>
              <a:avLst/>
              <a:gdLst/>
              <a:ahLst/>
              <a:cxnLst/>
              <a:rect l="l" t="t" r="r" b="b"/>
              <a:pathLst>
                <a:path w="14659" h="14658" extrusionOk="0">
                  <a:moveTo>
                    <a:pt x="13786" y="570"/>
                  </a:moveTo>
                  <a:cubicBezTo>
                    <a:pt x="13956" y="570"/>
                    <a:pt x="14070" y="702"/>
                    <a:pt x="14070" y="854"/>
                  </a:cubicBezTo>
                  <a:lnTo>
                    <a:pt x="14070" y="2276"/>
                  </a:lnTo>
                  <a:lnTo>
                    <a:pt x="570" y="2276"/>
                  </a:lnTo>
                  <a:lnTo>
                    <a:pt x="570" y="854"/>
                  </a:lnTo>
                  <a:cubicBezTo>
                    <a:pt x="570" y="702"/>
                    <a:pt x="683" y="570"/>
                    <a:pt x="854" y="570"/>
                  </a:cubicBezTo>
                  <a:close/>
                  <a:moveTo>
                    <a:pt x="14070" y="2864"/>
                  </a:moveTo>
                  <a:lnTo>
                    <a:pt x="14070" y="13786"/>
                  </a:lnTo>
                  <a:cubicBezTo>
                    <a:pt x="14070" y="13956"/>
                    <a:pt x="13956" y="14070"/>
                    <a:pt x="13786" y="14070"/>
                  </a:cubicBezTo>
                  <a:lnTo>
                    <a:pt x="854" y="14070"/>
                  </a:lnTo>
                  <a:cubicBezTo>
                    <a:pt x="683" y="14070"/>
                    <a:pt x="570" y="13956"/>
                    <a:pt x="570" y="13786"/>
                  </a:cubicBezTo>
                  <a:lnTo>
                    <a:pt x="570" y="2864"/>
                  </a:lnTo>
                  <a:close/>
                  <a:moveTo>
                    <a:pt x="854" y="1"/>
                  </a:moveTo>
                  <a:cubicBezTo>
                    <a:pt x="380" y="1"/>
                    <a:pt x="1" y="380"/>
                    <a:pt x="1" y="854"/>
                  </a:cubicBezTo>
                  <a:lnTo>
                    <a:pt x="1" y="13786"/>
                  </a:lnTo>
                  <a:cubicBezTo>
                    <a:pt x="1" y="14260"/>
                    <a:pt x="380" y="14639"/>
                    <a:pt x="854" y="14658"/>
                  </a:cubicBezTo>
                  <a:lnTo>
                    <a:pt x="13786" y="14658"/>
                  </a:lnTo>
                  <a:cubicBezTo>
                    <a:pt x="14260" y="14639"/>
                    <a:pt x="14639" y="14260"/>
                    <a:pt x="14658" y="13786"/>
                  </a:cubicBezTo>
                  <a:lnTo>
                    <a:pt x="14658" y="854"/>
                  </a:lnTo>
                  <a:cubicBezTo>
                    <a:pt x="14639" y="380"/>
                    <a:pt x="14260" y="1"/>
                    <a:pt x="137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3869138" y="1461125"/>
              <a:ext cx="280650" cy="143175"/>
            </a:xfrm>
            <a:custGeom>
              <a:avLst/>
              <a:gdLst/>
              <a:ahLst/>
              <a:cxnLst/>
              <a:rect l="l" t="t" r="r" b="b"/>
              <a:pathLst>
                <a:path w="11226" h="5727" extrusionOk="0">
                  <a:moveTo>
                    <a:pt x="10372" y="569"/>
                  </a:moveTo>
                  <a:cubicBezTo>
                    <a:pt x="10524" y="569"/>
                    <a:pt x="10657" y="702"/>
                    <a:pt x="10657" y="853"/>
                  </a:cubicBezTo>
                  <a:lnTo>
                    <a:pt x="10657" y="4873"/>
                  </a:lnTo>
                  <a:cubicBezTo>
                    <a:pt x="10657" y="5025"/>
                    <a:pt x="10524" y="5158"/>
                    <a:pt x="10372" y="5158"/>
                  </a:cubicBezTo>
                  <a:lnTo>
                    <a:pt x="873" y="5158"/>
                  </a:lnTo>
                  <a:cubicBezTo>
                    <a:pt x="702" y="5158"/>
                    <a:pt x="588" y="5025"/>
                    <a:pt x="588" y="4873"/>
                  </a:cubicBezTo>
                  <a:lnTo>
                    <a:pt x="569" y="853"/>
                  </a:lnTo>
                  <a:cubicBezTo>
                    <a:pt x="569" y="702"/>
                    <a:pt x="702" y="569"/>
                    <a:pt x="854" y="569"/>
                  </a:cubicBezTo>
                  <a:close/>
                  <a:moveTo>
                    <a:pt x="873" y="0"/>
                  </a:moveTo>
                  <a:cubicBezTo>
                    <a:pt x="399" y="0"/>
                    <a:pt x="0" y="379"/>
                    <a:pt x="19" y="853"/>
                  </a:cubicBezTo>
                  <a:lnTo>
                    <a:pt x="19" y="4873"/>
                  </a:lnTo>
                  <a:cubicBezTo>
                    <a:pt x="19" y="5347"/>
                    <a:pt x="399" y="5727"/>
                    <a:pt x="873" y="5727"/>
                  </a:cubicBezTo>
                  <a:lnTo>
                    <a:pt x="10372" y="5727"/>
                  </a:lnTo>
                  <a:cubicBezTo>
                    <a:pt x="10846" y="5727"/>
                    <a:pt x="11226" y="5347"/>
                    <a:pt x="11226" y="4873"/>
                  </a:cubicBezTo>
                  <a:lnTo>
                    <a:pt x="11226" y="853"/>
                  </a:lnTo>
                  <a:cubicBezTo>
                    <a:pt x="11226" y="379"/>
                    <a:pt x="10846" y="0"/>
                    <a:pt x="103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3867713" y="1632825"/>
              <a:ext cx="285100" cy="43050"/>
            </a:xfrm>
            <a:custGeom>
              <a:avLst/>
              <a:gdLst/>
              <a:ahLst/>
              <a:cxnLst/>
              <a:rect l="l" t="t" r="r" b="b"/>
              <a:pathLst>
                <a:path w="11404" h="1722" extrusionOk="0">
                  <a:moveTo>
                    <a:pt x="3376" y="565"/>
                  </a:moveTo>
                  <a:cubicBezTo>
                    <a:pt x="3641" y="565"/>
                    <a:pt x="3755" y="868"/>
                    <a:pt x="3584" y="1058"/>
                  </a:cubicBezTo>
                  <a:cubicBezTo>
                    <a:pt x="3523" y="1113"/>
                    <a:pt x="3449" y="1139"/>
                    <a:pt x="3378" y="1139"/>
                  </a:cubicBezTo>
                  <a:cubicBezTo>
                    <a:pt x="3230" y="1139"/>
                    <a:pt x="3091" y="1029"/>
                    <a:pt x="3091" y="850"/>
                  </a:cubicBezTo>
                  <a:cubicBezTo>
                    <a:pt x="3091" y="698"/>
                    <a:pt x="3224" y="565"/>
                    <a:pt x="3376" y="565"/>
                  </a:cubicBezTo>
                  <a:close/>
                  <a:moveTo>
                    <a:pt x="3385" y="1"/>
                  </a:moveTo>
                  <a:cubicBezTo>
                    <a:pt x="3049" y="1"/>
                    <a:pt x="2712" y="195"/>
                    <a:pt x="2579" y="584"/>
                  </a:cubicBezTo>
                  <a:lnTo>
                    <a:pt x="342" y="584"/>
                  </a:lnTo>
                  <a:cubicBezTo>
                    <a:pt x="0" y="603"/>
                    <a:pt x="0" y="1115"/>
                    <a:pt x="342" y="1153"/>
                  </a:cubicBezTo>
                  <a:lnTo>
                    <a:pt x="2579" y="1153"/>
                  </a:lnTo>
                  <a:cubicBezTo>
                    <a:pt x="2712" y="1532"/>
                    <a:pt x="3049" y="1722"/>
                    <a:pt x="3385" y="1722"/>
                  </a:cubicBezTo>
                  <a:cubicBezTo>
                    <a:pt x="3722" y="1722"/>
                    <a:pt x="4058" y="1532"/>
                    <a:pt x="4191" y="1153"/>
                  </a:cubicBezTo>
                  <a:lnTo>
                    <a:pt x="10998" y="1153"/>
                  </a:lnTo>
                  <a:cubicBezTo>
                    <a:pt x="11010" y="1154"/>
                    <a:pt x="11021" y="1154"/>
                    <a:pt x="11032" y="1154"/>
                  </a:cubicBezTo>
                  <a:cubicBezTo>
                    <a:pt x="11399" y="1154"/>
                    <a:pt x="11404" y="581"/>
                    <a:pt x="11047" y="581"/>
                  </a:cubicBezTo>
                  <a:cubicBezTo>
                    <a:pt x="11032" y="581"/>
                    <a:pt x="11015" y="582"/>
                    <a:pt x="10998" y="584"/>
                  </a:cubicBezTo>
                  <a:lnTo>
                    <a:pt x="4191" y="584"/>
                  </a:lnTo>
                  <a:cubicBezTo>
                    <a:pt x="4058" y="195"/>
                    <a:pt x="3722" y="1"/>
                    <a:pt x="33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3973888" y="1496900"/>
              <a:ext cx="78725" cy="71550"/>
            </a:xfrm>
            <a:custGeom>
              <a:avLst/>
              <a:gdLst/>
              <a:ahLst/>
              <a:cxnLst/>
              <a:rect l="l" t="t" r="r" b="b"/>
              <a:pathLst>
                <a:path w="3149" h="2862" extrusionOk="0">
                  <a:moveTo>
                    <a:pt x="570" y="731"/>
                  </a:moveTo>
                  <a:lnTo>
                    <a:pt x="2143" y="1432"/>
                  </a:lnTo>
                  <a:lnTo>
                    <a:pt x="570" y="2153"/>
                  </a:lnTo>
                  <a:lnTo>
                    <a:pt x="570" y="731"/>
                  </a:lnTo>
                  <a:close/>
                  <a:moveTo>
                    <a:pt x="280" y="0"/>
                  </a:moveTo>
                  <a:cubicBezTo>
                    <a:pt x="131" y="0"/>
                    <a:pt x="1" y="130"/>
                    <a:pt x="1" y="295"/>
                  </a:cubicBezTo>
                  <a:lnTo>
                    <a:pt x="1" y="2570"/>
                  </a:lnTo>
                  <a:cubicBezTo>
                    <a:pt x="1" y="2665"/>
                    <a:pt x="39" y="2760"/>
                    <a:pt x="115" y="2817"/>
                  </a:cubicBezTo>
                  <a:cubicBezTo>
                    <a:pt x="167" y="2848"/>
                    <a:pt x="219" y="2862"/>
                    <a:pt x="271" y="2862"/>
                  </a:cubicBezTo>
                  <a:cubicBezTo>
                    <a:pt x="314" y="2862"/>
                    <a:pt x="356" y="2853"/>
                    <a:pt x="399" y="2836"/>
                  </a:cubicBezTo>
                  <a:lnTo>
                    <a:pt x="2978" y="1698"/>
                  </a:lnTo>
                  <a:cubicBezTo>
                    <a:pt x="3073" y="1641"/>
                    <a:pt x="3148" y="1546"/>
                    <a:pt x="3148" y="1432"/>
                  </a:cubicBezTo>
                  <a:cubicBezTo>
                    <a:pt x="3148" y="1319"/>
                    <a:pt x="3073" y="1224"/>
                    <a:pt x="2978" y="1167"/>
                  </a:cubicBezTo>
                  <a:lnTo>
                    <a:pt x="399" y="29"/>
                  </a:lnTo>
                  <a:cubicBezTo>
                    <a:pt x="359" y="9"/>
                    <a:pt x="319" y="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618;p33"/>
          <p:cNvGrpSpPr/>
          <p:nvPr/>
        </p:nvGrpSpPr>
        <p:grpSpPr>
          <a:xfrm>
            <a:off x="1703914" y="3277127"/>
            <a:ext cx="231293" cy="365730"/>
            <a:chOff x="1461488" y="3250125"/>
            <a:chExt cx="394900" cy="624325"/>
          </a:xfrm>
        </p:grpSpPr>
        <p:sp>
          <p:nvSpPr>
            <p:cNvPr id="619" name="Google Shape;619;p33"/>
            <p:cNvSpPr/>
            <p:nvPr/>
          </p:nvSpPr>
          <p:spPr>
            <a:xfrm>
              <a:off x="1474763" y="3313650"/>
              <a:ext cx="370725" cy="548950"/>
            </a:xfrm>
            <a:custGeom>
              <a:avLst/>
              <a:gdLst/>
              <a:ahLst/>
              <a:cxnLst/>
              <a:rect l="l" t="t" r="r" b="b"/>
              <a:pathLst>
                <a:path w="14829" h="21958" extrusionOk="0">
                  <a:moveTo>
                    <a:pt x="4589" y="1"/>
                  </a:moveTo>
                  <a:cubicBezTo>
                    <a:pt x="3774" y="1"/>
                    <a:pt x="3129" y="645"/>
                    <a:pt x="3129" y="1461"/>
                  </a:cubicBezTo>
                  <a:lnTo>
                    <a:pt x="3129" y="8704"/>
                  </a:lnTo>
                  <a:lnTo>
                    <a:pt x="1593" y="9747"/>
                  </a:lnTo>
                  <a:cubicBezTo>
                    <a:pt x="513" y="10448"/>
                    <a:pt x="1" y="11757"/>
                    <a:pt x="285" y="13008"/>
                  </a:cubicBezTo>
                  <a:cubicBezTo>
                    <a:pt x="892" y="15568"/>
                    <a:pt x="2219" y="17900"/>
                    <a:pt x="4096" y="19720"/>
                  </a:cubicBezTo>
                  <a:lnTo>
                    <a:pt x="4096" y="21958"/>
                  </a:lnTo>
                  <a:lnTo>
                    <a:pt x="12838" y="21958"/>
                  </a:lnTo>
                  <a:lnTo>
                    <a:pt x="12838" y="19720"/>
                  </a:lnTo>
                  <a:cubicBezTo>
                    <a:pt x="14108" y="17824"/>
                    <a:pt x="14791" y="15587"/>
                    <a:pt x="14791" y="13312"/>
                  </a:cubicBezTo>
                  <a:lnTo>
                    <a:pt x="14791" y="9519"/>
                  </a:lnTo>
                  <a:cubicBezTo>
                    <a:pt x="14829" y="8685"/>
                    <a:pt x="14165" y="8002"/>
                    <a:pt x="13331" y="8002"/>
                  </a:cubicBezTo>
                  <a:cubicBezTo>
                    <a:pt x="12542" y="8002"/>
                    <a:pt x="11906" y="8612"/>
                    <a:pt x="11871" y="9384"/>
                  </a:cubicBezTo>
                  <a:lnTo>
                    <a:pt x="11871" y="9384"/>
                  </a:lnTo>
                  <a:lnTo>
                    <a:pt x="11871" y="8552"/>
                  </a:lnTo>
                  <a:cubicBezTo>
                    <a:pt x="11871" y="7737"/>
                    <a:pt x="11226" y="7092"/>
                    <a:pt x="10411" y="7092"/>
                  </a:cubicBezTo>
                  <a:cubicBezTo>
                    <a:pt x="9614" y="7092"/>
                    <a:pt x="8951" y="7737"/>
                    <a:pt x="8951" y="8552"/>
                  </a:cubicBezTo>
                  <a:lnTo>
                    <a:pt x="8951" y="7566"/>
                  </a:lnTo>
                  <a:cubicBezTo>
                    <a:pt x="8951" y="6770"/>
                    <a:pt x="8306" y="6106"/>
                    <a:pt x="7509" y="6106"/>
                  </a:cubicBezTo>
                  <a:cubicBezTo>
                    <a:pt x="6694" y="6106"/>
                    <a:pt x="6049" y="6770"/>
                    <a:pt x="6049" y="7566"/>
                  </a:cubicBezTo>
                  <a:lnTo>
                    <a:pt x="6049" y="1461"/>
                  </a:lnTo>
                  <a:cubicBezTo>
                    <a:pt x="6049" y="645"/>
                    <a:pt x="5386" y="1"/>
                    <a:pt x="4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83838" y="3624350"/>
              <a:ext cx="28475" cy="24475"/>
            </a:xfrm>
            <a:custGeom>
              <a:avLst/>
              <a:gdLst/>
              <a:ahLst/>
              <a:cxnLst/>
              <a:rect l="l" t="t" r="r" b="b"/>
              <a:pathLst>
                <a:path w="1139" h="979" extrusionOk="0">
                  <a:moveTo>
                    <a:pt x="492" y="1"/>
                  </a:moveTo>
                  <a:cubicBezTo>
                    <a:pt x="242" y="1"/>
                    <a:pt x="1" y="191"/>
                    <a:pt x="1" y="485"/>
                  </a:cubicBezTo>
                  <a:cubicBezTo>
                    <a:pt x="1" y="751"/>
                    <a:pt x="209" y="978"/>
                    <a:pt x="475" y="978"/>
                  </a:cubicBezTo>
                  <a:cubicBezTo>
                    <a:pt x="911" y="978"/>
                    <a:pt x="1138" y="466"/>
                    <a:pt x="835" y="144"/>
                  </a:cubicBezTo>
                  <a:cubicBezTo>
                    <a:pt x="736" y="45"/>
                    <a:pt x="613" y="1"/>
                    <a:pt x="4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461488" y="3301325"/>
              <a:ext cx="394900" cy="573125"/>
            </a:xfrm>
            <a:custGeom>
              <a:avLst/>
              <a:gdLst/>
              <a:ahLst/>
              <a:cxnLst/>
              <a:rect l="l" t="t" r="r" b="b"/>
              <a:pathLst>
                <a:path w="15796" h="22925" extrusionOk="0">
                  <a:moveTo>
                    <a:pt x="5120" y="972"/>
                  </a:moveTo>
                  <a:cubicBezTo>
                    <a:pt x="5604" y="972"/>
                    <a:pt x="6087" y="1299"/>
                    <a:pt x="6087" y="1954"/>
                  </a:cubicBezTo>
                  <a:lnTo>
                    <a:pt x="6087" y="11472"/>
                  </a:lnTo>
                  <a:cubicBezTo>
                    <a:pt x="6087" y="11795"/>
                    <a:pt x="6334" y="11956"/>
                    <a:pt x="6580" y="11956"/>
                  </a:cubicBezTo>
                  <a:cubicBezTo>
                    <a:pt x="6827" y="11956"/>
                    <a:pt x="7073" y="11795"/>
                    <a:pt x="7073" y="11472"/>
                  </a:cubicBezTo>
                  <a:lnTo>
                    <a:pt x="7073" y="8059"/>
                  </a:lnTo>
                  <a:cubicBezTo>
                    <a:pt x="7073" y="7415"/>
                    <a:pt x="7557" y="7092"/>
                    <a:pt x="8040" y="7092"/>
                  </a:cubicBezTo>
                  <a:cubicBezTo>
                    <a:pt x="8524" y="7092"/>
                    <a:pt x="9008" y="7415"/>
                    <a:pt x="9008" y="8059"/>
                  </a:cubicBezTo>
                  <a:lnTo>
                    <a:pt x="9008" y="11472"/>
                  </a:lnTo>
                  <a:cubicBezTo>
                    <a:pt x="9008" y="11795"/>
                    <a:pt x="9249" y="11956"/>
                    <a:pt x="9491" y="11956"/>
                  </a:cubicBezTo>
                  <a:cubicBezTo>
                    <a:pt x="9733" y="11956"/>
                    <a:pt x="9975" y="11795"/>
                    <a:pt x="9975" y="11472"/>
                  </a:cubicBezTo>
                  <a:lnTo>
                    <a:pt x="9975" y="9045"/>
                  </a:lnTo>
                  <a:cubicBezTo>
                    <a:pt x="9975" y="8391"/>
                    <a:pt x="10463" y="8064"/>
                    <a:pt x="10951" y="8064"/>
                  </a:cubicBezTo>
                  <a:cubicBezTo>
                    <a:pt x="11439" y="8064"/>
                    <a:pt x="11928" y="8391"/>
                    <a:pt x="11928" y="9045"/>
                  </a:cubicBezTo>
                  <a:lnTo>
                    <a:pt x="11928" y="11472"/>
                  </a:lnTo>
                  <a:cubicBezTo>
                    <a:pt x="11928" y="11795"/>
                    <a:pt x="12169" y="11956"/>
                    <a:pt x="12411" y="11956"/>
                  </a:cubicBezTo>
                  <a:cubicBezTo>
                    <a:pt x="12653" y="11956"/>
                    <a:pt x="12895" y="11795"/>
                    <a:pt x="12895" y="11472"/>
                  </a:cubicBezTo>
                  <a:lnTo>
                    <a:pt x="12895" y="10012"/>
                  </a:lnTo>
                  <a:cubicBezTo>
                    <a:pt x="12857" y="9330"/>
                    <a:pt x="13359" y="8988"/>
                    <a:pt x="13862" y="8988"/>
                  </a:cubicBezTo>
                  <a:cubicBezTo>
                    <a:pt x="14364" y="8988"/>
                    <a:pt x="14867" y="9330"/>
                    <a:pt x="14829" y="10012"/>
                  </a:cubicBezTo>
                  <a:lnTo>
                    <a:pt x="14829" y="13805"/>
                  </a:lnTo>
                  <a:cubicBezTo>
                    <a:pt x="14829" y="15985"/>
                    <a:pt x="14184" y="18128"/>
                    <a:pt x="12970" y="19948"/>
                  </a:cubicBezTo>
                  <a:cubicBezTo>
                    <a:pt x="12914" y="20024"/>
                    <a:pt x="12895" y="20119"/>
                    <a:pt x="12895" y="20213"/>
                  </a:cubicBezTo>
                  <a:lnTo>
                    <a:pt x="12895" y="21977"/>
                  </a:lnTo>
                  <a:lnTo>
                    <a:pt x="5120" y="21977"/>
                  </a:lnTo>
                  <a:lnTo>
                    <a:pt x="5120" y="20213"/>
                  </a:lnTo>
                  <a:cubicBezTo>
                    <a:pt x="5120" y="20081"/>
                    <a:pt x="5064" y="19967"/>
                    <a:pt x="4969" y="19872"/>
                  </a:cubicBezTo>
                  <a:cubicBezTo>
                    <a:pt x="4040" y="18962"/>
                    <a:pt x="3243" y="17938"/>
                    <a:pt x="2617" y="16800"/>
                  </a:cubicBezTo>
                  <a:cubicBezTo>
                    <a:pt x="2011" y="15720"/>
                    <a:pt x="1575" y="14582"/>
                    <a:pt x="1290" y="13387"/>
                  </a:cubicBezTo>
                  <a:cubicBezTo>
                    <a:pt x="1044" y="12326"/>
                    <a:pt x="1480" y="11226"/>
                    <a:pt x="2390" y="10638"/>
                  </a:cubicBezTo>
                  <a:lnTo>
                    <a:pt x="3186" y="10107"/>
                  </a:lnTo>
                  <a:lnTo>
                    <a:pt x="3186" y="13406"/>
                  </a:lnTo>
                  <a:cubicBezTo>
                    <a:pt x="3186" y="13729"/>
                    <a:pt x="3428" y="13890"/>
                    <a:pt x="3670" y="13890"/>
                  </a:cubicBezTo>
                  <a:cubicBezTo>
                    <a:pt x="3912" y="13890"/>
                    <a:pt x="4153" y="13729"/>
                    <a:pt x="4153" y="13406"/>
                  </a:cubicBezTo>
                  <a:lnTo>
                    <a:pt x="4153" y="1954"/>
                  </a:lnTo>
                  <a:cubicBezTo>
                    <a:pt x="4153" y="1299"/>
                    <a:pt x="4637" y="972"/>
                    <a:pt x="5120" y="972"/>
                  </a:cubicBezTo>
                  <a:close/>
                  <a:moveTo>
                    <a:pt x="5101" y="1"/>
                  </a:moveTo>
                  <a:cubicBezTo>
                    <a:pt x="4040" y="1"/>
                    <a:pt x="3167" y="873"/>
                    <a:pt x="3167" y="1954"/>
                  </a:cubicBezTo>
                  <a:lnTo>
                    <a:pt x="3167" y="8931"/>
                  </a:lnTo>
                  <a:lnTo>
                    <a:pt x="1840" y="9823"/>
                  </a:lnTo>
                  <a:cubicBezTo>
                    <a:pt x="589" y="10657"/>
                    <a:pt x="1" y="12155"/>
                    <a:pt x="342" y="13615"/>
                  </a:cubicBezTo>
                  <a:lnTo>
                    <a:pt x="361" y="13615"/>
                  </a:lnTo>
                  <a:cubicBezTo>
                    <a:pt x="949" y="16175"/>
                    <a:pt x="2257" y="18526"/>
                    <a:pt x="4134" y="20403"/>
                  </a:cubicBezTo>
                  <a:lnTo>
                    <a:pt x="4153" y="20403"/>
                  </a:lnTo>
                  <a:lnTo>
                    <a:pt x="4153" y="22451"/>
                  </a:lnTo>
                  <a:cubicBezTo>
                    <a:pt x="4153" y="22716"/>
                    <a:pt x="4362" y="22925"/>
                    <a:pt x="4627" y="22925"/>
                  </a:cubicBezTo>
                  <a:lnTo>
                    <a:pt x="13369" y="22925"/>
                  </a:lnTo>
                  <a:cubicBezTo>
                    <a:pt x="13634" y="22925"/>
                    <a:pt x="13862" y="22716"/>
                    <a:pt x="13843" y="22451"/>
                  </a:cubicBezTo>
                  <a:lnTo>
                    <a:pt x="13843" y="20346"/>
                  </a:lnTo>
                  <a:cubicBezTo>
                    <a:pt x="15113" y="18393"/>
                    <a:pt x="15796" y="16118"/>
                    <a:pt x="15796" y="13786"/>
                  </a:cubicBezTo>
                  <a:lnTo>
                    <a:pt x="15796" y="9993"/>
                  </a:lnTo>
                  <a:cubicBezTo>
                    <a:pt x="15796" y="8851"/>
                    <a:pt x="14853" y="8046"/>
                    <a:pt x="13842" y="8046"/>
                  </a:cubicBezTo>
                  <a:cubicBezTo>
                    <a:pt x="13477" y="8046"/>
                    <a:pt x="13104" y="8150"/>
                    <a:pt x="12762" y="8382"/>
                  </a:cubicBezTo>
                  <a:cubicBezTo>
                    <a:pt x="12496" y="7604"/>
                    <a:pt x="11757" y="7092"/>
                    <a:pt x="10942" y="7092"/>
                  </a:cubicBezTo>
                  <a:cubicBezTo>
                    <a:pt x="10913" y="7091"/>
                    <a:pt x="10885" y="7090"/>
                    <a:pt x="10856" y="7090"/>
                  </a:cubicBezTo>
                  <a:cubicBezTo>
                    <a:pt x="10489" y="7090"/>
                    <a:pt x="10142" y="7203"/>
                    <a:pt x="9861" y="7415"/>
                  </a:cubicBezTo>
                  <a:cubicBezTo>
                    <a:pt x="9566" y="6597"/>
                    <a:pt x="8806" y="6111"/>
                    <a:pt x="8018" y="6111"/>
                  </a:cubicBezTo>
                  <a:cubicBezTo>
                    <a:pt x="7691" y="6111"/>
                    <a:pt x="7360" y="6194"/>
                    <a:pt x="7054" y="6372"/>
                  </a:cubicBezTo>
                  <a:lnTo>
                    <a:pt x="7054" y="1954"/>
                  </a:lnTo>
                  <a:cubicBezTo>
                    <a:pt x="7054" y="873"/>
                    <a:pt x="6182" y="1"/>
                    <a:pt x="5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741663" y="3674550"/>
              <a:ext cx="63050" cy="117175"/>
            </a:xfrm>
            <a:custGeom>
              <a:avLst/>
              <a:gdLst/>
              <a:ahLst/>
              <a:cxnLst/>
              <a:rect l="l" t="t" r="r" b="b"/>
              <a:pathLst>
                <a:path w="2522" h="4687" extrusionOk="0">
                  <a:moveTo>
                    <a:pt x="2023" y="1"/>
                  </a:moveTo>
                  <a:cubicBezTo>
                    <a:pt x="1835" y="1"/>
                    <a:pt x="1648" y="106"/>
                    <a:pt x="1574" y="336"/>
                  </a:cubicBezTo>
                  <a:cubicBezTo>
                    <a:pt x="1365" y="1625"/>
                    <a:pt x="872" y="2857"/>
                    <a:pt x="152" y="3938"/>
                  </a:cubicBezTo>
                  <a:cubicBezTo>
                    <a:pt x="0" y="4147"/>
                    <a:pt x="57" y="4469"/>
                    <a:pt x="284" y="4602"/>
                  </a:cubicBezTo>
                  <a:cubicBezTo>
                    <a:pt x="370" y="4659"/>
                    <a:pt x="464" y="4687"/>
                    <a:pt x="556" y="4687"/>
                  </a:cubicBezTo>
                  <a:cubicBezTo>
                    <a:pt x="707" y="4687"/>
                    <a:pt x="854" y="4611"/>
                    <a:pt x="948" y="4469"/>
                  </a:cubicBezTo>
                  <a:cubicBezTo>
                    <a:pt x="1763" y="3275"/>
                    <a:pt x="2294" y="1909"/>
                    <a:pt x="2522" y="506"/>
                  </a:cubicBezTo>
                  <a:cubicBezTo>
                    <a:pt x="2522" y="183"/>
                    <a:pt x="2271" y="1"/>
                    <a:pt x="2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490888" y="3250125"/>
              <a:ext cx="196750" cy="112150"/>
            </a:xfrm>
            <a:custGeom>
              <a:avLst/>
              <a:gdLst/>
              <a:ahLst/>
              <a:cxnLst/>
              <a:rect l="l" t="t" r="r" b="b"/>
              <a:pathLst>
                <a:path w="7870" h="4486" extrusionOk="0">
                  <a:moveTo>
                    <a:pt x="3925" y="1"/>
                  </a:moveTo>
                  <a:cubicBezTo>
                    <a:pt x="1745" y="1"/>
                    <a:pt x="0" y="1802"/>
                    <a:pt x="38" y="4002"/>
                  </a:cubicBezTo>
                  <a:cubicBezTo>
                    <a:pt x="38" y="4267"/>
                    <a:pt x="247" y="4476"/>
                    <a:pt x="512" y="4476"/>
                  </a:cubicBezTo>
                  <a:lnTo>
                    <a:pt x="550" y="4476"/>
                  </a:lnTo>
                  <a:cubicBezTo>
                    <a:pt x="816" y="4476"/>
                    <a:pt x="1024" y="4267"/>
                    <a:pt x="1024" y="4002"/>
                  </a:cubicBezTo>
                  <a:cubicBezTo>
                    <a:pt x="1024" y="2390"/>
                    <a:pt x="2314" y="1082"/>
                    <a:pt x="3925" y="1082"/>
                  </a:cubicBezTo>
                  <a:cubicBezTo>
                    <a:pt x="5537" y="1082"/>
                    <a:pt x="6846" y="2390"/>
                    <a:pt x="6846" y="4002"/>
                  </a:cubicBezTo>
                  <a:cubicBezTo>
                    <a:pt x="6846" y="4324"/>
                    <a:pt x="7087" y="4485"/>
                    <a:pt x="7329" y="4485"/>
                  </a:cubicBezTo>
                  <a:cubicBezTo>
                    <a:pt x="7571" y="4485"/>
                    <a:pt x="7813" y="4324"/>
                    <a:pt x="7813" y="4002"/>
                  </a:cubicBezTo>
                  <a:cubicBezTo>
                    <a:pt x="7869" y="1802"/>
                    <a:pt x="6125" y="1"/>
                    <a:pt x="39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33"/>
          <p:cNvSpPr txBox="1"/>
          <p:nvPr/>
        </p:nvSpPr>
        <p:spPr>
          <a:xfrm>
            <a:off x="2051753" y="3266983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Add items with priorities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5" name="Google Shape;625;p33"/>
          <p:cNvSpPr txBox="1"/>
          <p:nvPr/>
        </p:nvSpPr>
        <p:spPr>
          <a:xfrm>
            <a:off x="4200557" y="3375360"/>
            <a:ext cx="1651599" cy="46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View and remove the highest priority item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6874923" y="3314340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Display all items in the queue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7" name="Google Shape;627;p3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28" name="Google Shape;628;p3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29" name="Google Shape;629;p3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Operations of </a:t>
            </a:r>
            <a:r>
              <a:rPr lang="en" dirty="0">
                <a:solidFill>
                  <a:schemeClr val="accent2"/>
                </a:solidFill>
              </a:rPr>
              <a:t>‘the Menu’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630375" y="126147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01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888875" y="1261450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chemeClr val="accent3"/>
                </a:solidFill>
                <a:latin typeface="Fira Code"/>
                <a:ea typeface="Fira Code"/>
                <a:cs typeface="Fira Code"/>
              </a:defRPr>
            </a:lvl1pPr>
          </a:lstStyle>
          <a:p>
            <a:r>
              <a:rPr lang="en-US" altLang="en-US" dirty="0" err="1"/>
              <a:t>Enqueue</a:t>
            </a:r>
            <a:r>
              <a:rPr lang="en-US" altLang="en-US" dirty="0"/>
              <a:t> and </a:t>
            </a:r>
            <a:r>
              <a:rPr lang="en-US" altLang="en-US" dirty="0" err="1"/>
              <a:t>dequeue</a:t>
            </a:r>
            <a:r>
              <a:rPr lang="en-US" altLang="en-US" dirty="0"/>
              <a:t> item</a:t>
            </a:r>
          </a:p>
        </p:txBody>
      </p:sp>
      <p:sp>
        <p:nvSpPr>
          <p:cNvPr id="638" name="Google Shape;638;p34"/>
          <p:cNvSpPr txBox="1"/>
          <p:nvPr/>
        </p:nvSpPr>
        <p:spPr>
          <a:xfrm>
            <a:off x="2068425" y="198400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 02</a:t>
            </a:r>
            <a:endParaRPr sz="20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326925" y="1984008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Peek highest priority item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2497412" y="270655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03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764225" y="2706567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Display queue and check its size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2924775" y="342912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 04</a:t>
            </a:r>
            <a:endParaRPr sz="20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4183275" y="3429125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Exit program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stCxn id="649" idx="2"/>
            <a:endCxn id="636" idx="1"/>
          </p:cNvCxnSpPr>
          <p:nvPr/>
        </p:nvCxnSpPr>
        <p:spPr>
          <a:xfrm>
            <a:off x="1337875" y="1553675"/>
            <a:ext cx="292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299876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721325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 </a:t>
            </a:r>
            <a:r>
              <a:rPr lang="en-US" dirty="0"/>
              <a:t>Java Programming Language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13" name="Google Shape;713;p3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 </a:t>
            </a:r>
            <a:r>
              <a:rPr lang="en-US" dirty="0"/>
              <a:t>Custom Priority Queue Implementation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OOP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Queue</a:t>
            </a:r>
            <a:endParaRPr dirty="0"/>
          </a:p>
        </p:txBody>
      </p:sp>
      <p:sp>
        <p:nvSpPr>
          <p:cNvPr id="716" name="Google Shape;716;p3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 </a:t>
            </a:r>
            <a:r>
              <a:rPr lang="en-US" dirty="0"/>
              <a:t>GitHub for Project Management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 </a:t>
            </a:r>
            <a:r>
              <a:rPr lang="en-US" dirty="0"/>
              <a:t>Scanner Class for User Input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</a:t>
            </a:r>
            <a:endParaRPr dirty="0"/>
          </a:p>
        </p:txBody>
      </p:sp>
      <p:sp>
        <p:nvSpPr>
          <p:cNvPr id="719" name="Google Shape;719;p3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Tools used on </a:t>
            </a:r>
            <a:r>
              <a:rPr lang="en" dirty="0">
                <a:solidFill>
                  <a:schemeClr val="accent2"/>
                </a:solidFill>
              </a:rPr>
              <a:t>‘The Project’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" name="Google Shape;729;p36"/>
          <p:cNvGrpSpPr/>
          <p:nvPr/>
        </p:nvGrpSpPr>
        <p:grpSpPr>
          <a:xfrm>
            <a:off x="5411269" y="3319749"/>
            <a:ext cx="365747" cy="365752"/>
            <a:chOff x="2036988" y="4249875"/>
            <a:chExt cx="525725" cy="524300"/>
          </a:xfrm>
        </p:grpSpPr>
        <p:sp>
          <p:nvSpPr>
            <p:cNvPr id="730" name="Google Shape;730;p36"/>
            <p:cNvSpPr/>
            <p:nvPr/>
          </p:nvSpPr>
          <p:spPr>
            <a:xfrm>
              <a:off x="2046938" y="4393975"/>
              <a:ext cx="505350" cy="369775"/>
            </a:xfrm>
            <a:custGeom>
              <a:avLst/>
              <a:gdLst/>
              <a:ahLst/>
              <a:cxnLst/>
              <a:rect l="l" t="t" r="r" b="b"/>
              <a:pathLst>
                <a:path w="20214" h="14791" extrusionOk="0">
                  <a:moveTo>
                    <a:pt x="1650" y="1"/>
                  </a:moveTo>
                  <a:cubicBezTo>
                    <a:pt x="740" y="1"/>
                    <a:pt x="0" y="740"/>
                    <a:pt x="0" y="1650"/>
                  </a:cubicBezTo>
                  <a:lnTo>
                    <a:pt x="0" y="13141"/>
                  </a:lnTo>
                  <a:cubicBezTo>
                    <a:pt x="0" y="14051"/>
                    <a:pt x="740" y="14791"/>
                    <a:pt x="1650" y="14791"/>
                  </a:cubicBezTo>
                  <a:lnTo>
                    <a:pt x="18564" y="14791"/>
                  </a:lnTo>
                  <a:cubicBezTo>
                    <a:pt x="19474" y="14791"/>
                    <a:pt x="20213" y="14051"/>
                    <a:pt x="20213" y="13141"/>
                  </a:cubicBezTo>
                  <a:lnTo>
                    <a:pt x="20213" y="1650"/>
                  </a:lnTo>
                  <a:cubicBezTo>
                    <a:pt x="20213" y="740"/>
                    <a:pt x="19474" y="1"/>
                    <a:pt x="18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2129413" y="4435225"/>
              <a:ext cx="382100" cy="287300"/>
            </a:xfrm>
            <a:custGeom>
              <a:avLst/>
              <a:gdLst/>
              <a:ahLst/>
              <a:cxnLst/>
              <a:rect l="l" t="t" r="r" b="b"/>
              <a:pathLst>
                <a:path w="15284" h="11492" extrusionOk="0">
                  <a:moveTo>
                    <a:pt x="1" y="0"/>
                  </a:moveTo>
                  <a:lnTo>
                    <a:pt x="1" y="11491"/>
                  </a:lnTo>
                  <a:lnTo>
                    <a:pt x="15284" y="11491"/>
                  </a:lnTo>
                  <a:lnTo>
                    <a:pt x="152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2310013" y="4548050"/>
              <a:ext cx="61650" cy="72075"/>
            </a:xfrm>
            <a:custGeom>
              <a:avLst/>
              <a:gdLst/>
              <a:ahLst/>
              <a:cxnLst/>
              <a:rect l="l" t="t" r="r" b="b"/>
              <a:pathLst>
                <a:path w="2466" h="2883" extrusionOk="0">
                  <a:moveTo>
                    <a:pt x="1" y="0"/>
                  </a:moveTo>
                  <a:lnTo>
                    <a:pt x="1" y="133"/>
                  </a:lnTo>
                  <a:cubicBezTo>
                    <a:pt x="1" y="323"/>
                    <a:pt x="39" y="493"/>
                    <a:pt x="134" y="683"/>
                  </a:cubicBezTo>
                  <a:lnTo>
                    <a:pt x="1233" y="2882"/>
                  </a:lnTo>
                  <a:lnTo>
                    <a:pt x="2333" y="683"/>
                  </a:lnTo>
                  <a:cubicBezTo>
                    <a:pt x="2409" y="512"/>
                    <a:pt x="2466" y="323"/>
                    <a:pt x="2466" y="133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2310013" y="4310075"/>
              <a:ext cx="61650" cy="238000"/>
            </a:xfrm>
            <a:custGeom>
              <a:avLst/>
              <a:gdLst/>
              <a:ahLst/>
              <a:cxnLst/>
              <a:rect l="l" t="t" r="r" b="b"/>
              <a:pathLst>
                <a:path w="2466" h="9520" extrusionOk="0">
                  <a:moveTo>
                    <a:pt x="1" y="1"/>
                  </a:moveTo>
                  <a:lnTo>
                    <a:pt x="1" y="9519"/>
                  </a:lnTo>
                  <a:lnTo>
                    <a:pt x="2466" y="9519"/>
                  </a:lnTo>
                  <a:lnTo>
                    <a:pt x="24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2310013" y="4258300"/>
              <a:ext cx="61650" cy="51800"/>
            </a:xfrm>
            <a:custGeom>
              <a:avLst/>
              <a:gdLst/>
              <a:ahLst/>
              <a:cxnLst/>
              <a:rect l="l" t="t" r="r" b="b"/>
              <a:pathLst>
                <a:path w="2466" h="2072" extrusionOk="0">
                  <a:moveTo>
                    <a:pt x="1233" y="0"/>
                  </a:moveTo>
                  <a:cubicBezTo>
                    <a:pt x="617" y="0"/>
                    <a:pt x="1" y="412"/>
                    <a:pt x="1" y="1237"/>
                  </a:cubicBezTo>
                  <a:lnTo>
                    <a:pt x="1" y="2072"/>
                  </a:lnTo>
                  <a:lnTo>
                    <a:pt x="2466" y="2072"/>
                  </a:lnTo>
                  <a:lnTo>
                    <a:pt x="2466" y="1237"/>
                  </a:lnTo>
                  <a:cubicBezTo>
                    <a:pt x="2466" y="412"/>
                    <a:pt x="1850" y="0"/>
                    <a:pt x="1233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2197688" y="4609675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550" y="0"/>
                  </a:moveTo>
                  <a:cubicBezTo>
                    <a:pt x="171" y="0"/>
                    <a:pt x="0" y="436"/>
                    <a:pt x="247" y="702"/>
                  </a:cubicBezTo>
                  <a:cubicBezTo>
                    <a:pt x="333" y="788"/>
                    <a:pt x="439" y="826"/>
                    <a:pt x="543" y="826"/>
                  </a:cubicBezTo>
                  <a:cubicBezTo>
                    <a:pt x="759" y="826"/>
                    <a:pt x="967" y="661"/>
                    <a:pt x="967" y="417"/>
                  </a:cubicBezTo>
                  <a:cubicBezTo>
                    <a:pt x="948" y="190"/>
                    <a:pt x="777" y="0"/>
                    <a:pt x="5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2074438" y="4568900"/>
              <a:ext cx="23725" cy="20200"/>
            </a:xfrm>
            <a:custGeom>
              <a:avLst/>
              <a:gdLst/>
              <a:ahLst/>
              <a:cxnLst/>
              <a:rect l="l" t="t" r="r" b="b"/>
              <a:pathLst>
                <a:path w="949" h="808" extrusionOk="0">
                  <a:moveTo>
                    <a:pt x="550" y="1"/>
                  </a:moveTo>
                  <a:cubicBezTo>
                    <a:pt x="190" y="1"/>
                    <a:pt x="0" y="437"/>
                    <a:pt x="265" y="683"/>
                  </a:cubicBezTo>
                  <a:cubicBezTo>
                    <a:pt x="346" y="769"/>
                    <a:pt x="445" y="808"/>
                    <a:pt x="544" y="808"/>
                  </a:cubicBezTo>
                  <a:cubicBezTo>
                    <a:pt x="749" y="808"/>
                    <a:pt x="948" y="642"/>
                    <a:pt x="948" y="399"/>
                  </a:cubicBezTo>
                  <a:cubicBezTo>
                    <a:pt x="948" y="171"/>
                    <a:pt x="777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2036988" y="4249875"/>
              <a:ext cx="525725" cy="524300"/>
            </a:xfrm>
            <a:custGeom>
              <a:avLst/>
              <a:gdLst/>
              <a:ahLst/>
              <a:cxnLst/>
              <a:rect l="l" t="t" r="r" b="b"/>
              <a:pathLst>
                <a:path w="21029" h="20972" extrusionOk="0">
                  <a:moveTo>
                    <a:pt x="12147" y="792"/>
                  </a:moveTo>
                  <a:cubicBezTo>
                    <a:pt x="12543" y="792"/>
                    <a:pt x="12941" y="1053"/>
                    <a:pt x="12970" y="1574"/>
                  </a:cubicBezTo>
                  <a:lnTo>
                    <a:pt x="12970" y="1991"/>
                  </a:lnTo>
                  <a:lnTo>
                    <a:pt x="11339" y="1991"/>
                  </a:lnTo>
                  <a:lnTo>
                    <a:pt x="11339" y="1574"/>
                  </a:lnTo>
                  <a:cubicBezTo>
                    <a:pt x="11358" y="1053"/>
                    <a:pt x="11751" y="792"/>
                    <a:pt x="12147" y="792"/>
                  </a:cubicBezTo>
                  <a:close/>
                  <a:moveTo>
                    <a:pt x="10505" y="6182"/>
                  </a:moveTo>
                  <a:lnTo>
                    <a:pt x="10505" y="6997"/>
                  </a:lnTo>
                  <a:lnTo>
                    <a:pt x="4096" y="6997"/>
                  </a:lnTo>
                  <a:lnTo>
                    <a:pt x="4096" y="6182"/>
                  </a:lnTo>
                  <a:close/>
                  <a:moveTo>
                    <a:pt x="12970" y="2807"/>
                  </a:moveTo>
                  <a:lnTo>
                    <a:pt x="12970" y="11529"/>
                  </a:lnTo>
                  <a:lnTo>
                    <a:pt x="11339" y="11529"/>
                  </a:lnTo>
                  <a:lnTo>
                    <a:pt x="11339" y="2807"/>
                  </a:lnTo>
                  <a:close/>
                  <a:moveTo>
                    <a:pt x="12913" y="12344"/>
                  </a:moveTo>
                  <a:cubicBezTo>
                    <a:pt x="12913" y="12363"/>
                    <a:pt x="12894" y="12401"/>
                    <a:pt x="12894" y="12420"/>
                  </a:cubicBezTo>
                  <a:lnTo>
                    <a:pt x="12154" y="13880"/>
                  </a:lnTo>
                  <a:lnTo>
                    <a:pt x="11415" y="12420"/>
                  </a:lnTo>
                  <a:cubicBezTo>
                    <a:pt x="11396" y="12382"/>
                    <a:pt x="11396" y="12363"/>
                    <a:pt x="11377" y="12344"/>
                  </a:cubicBezTo>
                  <a:close/>
                  <a:moveTo>
                    <a:pt x="18563" y="7832"/>
                  </a:moveTo>
                  <a:lnTo>
                    <a:pt x="18563" y="18507"/>
                  </a:lnTo>
                  <a:lnTo>
                    <a:pt x="4096" y="18507"/>
                  </a:lnTo>
                  <a:lnTo>
                    <a:pt x="4096" y="7832"/>
                  </a:lnTo>
                  <a:lnTo>
                    <a:pt x="10505" y="7832"/>
                  </a:lnTo>
                  <a:lnTo>
                    <a:pt x="10505" y="12060"/>
                  </a:lnTo>
                  <a:cubicBezTo>
                    <a:pt x="10505" y="12306"/>
                    <a:pt x="10562" y="12553"/>
                    <a:pt x="10675" y="12780"/>
                  </a:cubicBezTo>
                  <a:lnTo>
                    <a:pt x="11472" y="14392"/>
                  </a:lnTo>
                  <a:lnTo>
                    <a:pt x="8628" y="14392"/>
                  </a:lnTo>
                  <a:cubicBezTo>
                    <a:pt x="8615" y="14391"/>
                    <a:pt x="8603" y="14391"/>
                    <a:pt x="8591" y="14391"/>
                  </a:cubicBezTo>
                  <a:cubicBezTo>
                    <a:pt x="8033" y="14391"/>
                    <a:pt x="8033" y="15228"/>
                    <a:pt x="8591" y="15228"/>
                  </a:cubicBezTo>
                  <a:cubicBezTo>
                    <a:pt x="8603" y="15228"/>
                    <a:pt x="8615" y="15227"/>
                    <a:pt x="8628" y="15227"/>
                  </a:cubicBezTo>
                  <a:lnTo>
                    <a:pt x="15435" y="15227"/>
                  </a:lnTo>
                  <a:cubicBezTo>
                    <a:pt x="15947" y="15170"/>
                    <a:pt x="15947" y="14430"/>
                    <a:pt x="15435" y="14392"/>
                  </a:cubicBezTo>
                  <a:lnTo>
                    <a:pt x="12818" y="14392"/>
                  </a:lnTo>
                  <a:lnTo>
                    <a:pt x="13614" y="12780"/>
                  </a:lnTo>
                  <a:cubicBezTo>
                    <a:pt x="13728" y="12553"/>
                    <a:pt x="13785" y="12306"/>
                    <a:pt x="13804" y="12060"/>
                  </a:cubicBezTo>
                  <a:lnTo>
                    <a:pt x="13804" y="7832"/>
                  </a:lnTo>
                  <a:close/>
                  <a:moveTo>
                    <a:pt x="3280" y="6182"/>
                  </a:moveTo>
                  <a:lnTo>
                    <a:pt x="3280" y="20156"/>
                  </a:lnTo>
                  <a:lnTo>
                    <a:pt x="2048" y="20156"/>
                  </a:lnTo>
                  <a:cubicBezTo>
                    <a:pt x="1365" y="20156"/>
                    <a:pt x="815" y="19588"/>
                    <a:pt x="815" y="18924"/>
                  </a:cubicBezTo>
                  <a:lnTo>
                    <a:pt x="815" y="7414"/>
                  </a:lnTo>
                  <a:cubicBezTo>
                    <a:pt x="815" y="6732"/>
                    <a:pt x="1365" y="6182"/>
                    <a:pt x="2048" y="6182"/>
                  </a:cubicBezTo>
                  <a:close/>
                  <a:moveTo>
                    <a:pt x="18962" y="6182"/>
                  </a:moveTo>
                  <a:cubicBezTo>
                    <a:pt x="19644" y="6182"/>
                    <a:pt x="20194" y="6732"/>
                    <a:pt x="20194" y="7414"/>
                  </a:cubicBezTo>
                  <a:lnTo>
                    <a:pt x="20194" y="18924"/>
                  </a:lnTo>
                  <a:cubicBezTo>
                    <a:pt x="20194" y="19588"/>
                    <a:pt x="19644" y="20156"/>
                    <a:pt x="18962" y="20156"/>
                  </a:cubicBezTo>
                  <a:lnTo>
                    <a:pt x="4096" y="20156"/>
                  </a:lnTo>
                  <a:lnTo>
                    <a:pt x="4096" y="19322"/>
                  </a:lnTo>
                  <a:lnTo>
                    <a:pt x="18962" y="19322"/>
                  </a:lnTo>
                  <a:cubicBezTo>
                    <a:pt x="19189" y="19322"/>
                    <a:pt x="19379" y="19152"/>
                    <a:pt x="19379" y="18924"/>
                  </a:cubicBezTo>
                  <a:lnTo>
                    <a:pt x="19379" y="7414"/>
                  </a:lnTo>
                  <a:cubicBezTo>
                    <a:pt x="19379" y="7187"/>
                    <a:pt x="19189" y="6997"/>
                    <a:pt x="18962" y="6997"/>
                  </a:cubicBezTo>
                  <a:lnTo>
                    <a:pt x="13804" y="6997"/>
                  </a:lnTo>
                  <a:lnTo>
                    <a:pt x="13804" y="6182"/>
                  </a:lnTo>
                  <a:close/>
                  <a:moveTo>
                    <a:pt x="12154" y="0"/>
                  </a:moveTo>
                  <a:cubicBezTo>
                    <a:pt x="11263" y="0"/>
                    <a:pt x="10543" y="702"/>
                    <a:pt x="10505" y="1574"/>
                  </a:cubicBezTo>
                  <a:lnTo>
                    <a:pt x="10505" y="5367"/>
                  </a:lnTo>
                  <a:lnTo>
                    <a:pt x="2048" y="5367"/>
                  </a:lnTo>
                  <a:cubicBezTo>
                    <a:pt x="910" y="5367"/>
                    <a:pt x="0" y="6277"/>
                    <a:pt x="0" y="7414"/>
                  </a:cubicBezTo>
                  <a:lnTo>
                    <a:pt x="0" y="18905"/>
                  </a:lnTo>
                  <a:cubicBezTo>
                    <a:pt x="0" y="20043"/>
                    <a:pt x="910" y="20972"/>
                    <a:pt x="2048" y="20972"/>
                  </a:cubicBezTo>
                  <a:lnTo>
                    <a:pt x="18962" y="20972"/>
                  </a:lnTo>
                  <a:cubicBezTo>
                    <a:pt x="20099" y="20972"/>
                    <a:pt x="21028" y="20043"/>
                    <a:pt x="21028" y="18905"/>
                  </a:cubicBezTo>
                  <a:lnTo>
                    <a:pt x="21028" y="7414"/>
                  </a:lnTo>
                  <a:cubicBezTo>
                    <a:pt x="21028" y="6277"/>
                    <a:pt x="20099" y="5367"/>
                    <a:pt x="18962" y="5367"/>
                  </a:cubicBezTo>
                  <a:lnTo>
                    <a:pt x="13804" y="5367"/>
                  </a:lnTo>
                  <a:lnTo>
                    <a:pt x="13804" y="1574"/>
                  </a:lnTo>
                  <a:cubicBezTo>
                    <a:pt x="13766" y="702"/>
                    <a:pt x="13027" y="0"/>
                    <a:pt x="121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2077738" y="4487250"/>
              <a:ext cx="20900" cy="60100"/>
            </a:xfrm>
            <a:custGeom>
              <a:avLst/>
              <a:gdLst/>
              <a:ahLst/>
              <a:cxnLst/>
              <a:rect l="l" t="t" r="r" b="b"/>
              <a:pathLst>
                <a:path w="836" h="2404" extrusionOk="0">
                  <a:moveTo>
                    <a:pt x="411" y="0"/>
                  </a:moveTo>
                  <a:cubicBezTo>
                    <a:pt x="214" y="0"/>
                    <a:pt x="20" y="128"/>
                    <a:pt x="1" y="384"/>
                  </a:cubicBezTo>
                  <a:lnTo>
                    <a:pt x="1" y="2034"/>
                  </a:lnTo>
                  <a:cubicBezTo>
                    <a:pt x="20" y="2281"/>
                    <a:pt x="214" y="2404"/>
                    <a:pt x="411" y="2404"/>
                  </a:cubicBezTo>
                  <a:cubicBezTo>
                    <a:pt x="608" y="2404"/>
                    <a:pt x="807" y="2281"/>
                    <a:pt x="835" y="2034"/>
                  </a:cubicBezTo>
                  <a:lnTo>
                    <a:pt x="835" y="384"/>
                  </a:lnTo>
                  <a:cubicBezTo>
                    <a:pt x="807" y="128"/>
                    <a:pt x="608" y="0"/>
                    <a:pt x="4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2077738" y="4609675"/>
              <a:ext cx="20425" cy="60825"/>
            </a:xfrm>
            <a:custGeom>
              <a:avLst/>
              <a:gdLst/>
              <a:ahLst/>
              <a:cxnLst/>
              <a:rect l="l" t="t" r="r" b="b"/>
              <a:pathLst>
                <a:path w="817" h="2433" extrusionOk="0">
                  <a:moveTo>
                    <a:pt x="418" y="0"/>
                  </a:moveTo>
                  <a:cubicBezTo>
                    <a:pt x="190" y="0"/>
                    <a:pt x="1" y="190"/>
                    <a:pt x="1" y="417"/>
                  </a:cubicBezTo>
                  <a:lnTo>
                    <a:pt x="1" y="2048"/>
                  </a:lnTo>
                  <a:cubicBezTo>
                    <a:pt x="20" y="2304"/>
                    <a:pt x="214" y="2432"/>
                    <a:pt x="408" y="2432"/>
                  </a:cubicBezTo>
                  <a:cubicBezTo>
                    <a:pt x="603" y="2432"/>
                    <a:pt x="797" y="2304"/>
                    <a:pt x="816" y="2048"/>
                  </a:cubicBezTo>
                  <a:lnTo>
                    <a:pt x="816" y="417"/>
                  </a:lnTo>
                  <a:cubicBezTo>
                    <a:pt x="816" y="190"/>
                    <a:pt x="645" y="0"/>
                    <a:pt x="4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5024762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2311771" y="3351401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871175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" name="Google Shape;769;p36"/>
          <p:cNvGrpSpPr/>
          <p:nvPr/>
        </p:nvGrpSpPr>
        <p:grpSpPr>
          <a:xfrm>
            <a:off x="5304988" y="3258875"/>
            <a:ext cx="578325" cy="487500"/>
            <a:chOff x="5198688" y="3289450"/>
            <a:chExt cx="578325" cy="487500"/>
          </a:xfrm>
        </p:grpSpPr>
        <p:sp>
          <p:nvSpPr>
            <p:cNvPr id="770" name="Google Shape;770;p36"/>
            <p:cNvSpPr/>
            <p:nvPr/>
          </p:nvSpPr>
          <p:spPr>
            <a:xfrm flipH="1">
              <a:off x="5708313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5198688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2205475" y="3258875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Structure of </a:t>
            </a:r>
            <a:r>
              <a:rPr lang="en" dirty="0">
                <a:solidFill>
                  <a:schemeClr val="accent2"/>
                </a:solidFill>
              </a:rPr>
              <a:t>‘the Project’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630374" y="1261475"/>
            <a:ext cx="161158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Main.java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1570629" y="3977232"/>
            <a:ext cx="552843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chemeClr val="accent3"/>
                </a:solidFill>
                <a:latin typeface="Fira Code"/>
                <a:ea typeface="Fira Code"/>
                <a:cs typeface="Fira Code"/>
              </a:defRPr>
            </a:lvl1pPr>
          </a:lstStyle>
          <a:p>
            <a:r>
              <a:rPr lang="en" altLang="en-US" sz="2000" dirty="0">
                <a:solidFill>
                  <a:schemeClr val="accent1"/>
                </a:solidFill>
                <a:sym typeface="Fira Code"/>
              </a:rPr>
              <a:t>+README.md </a:t>
            </a:r>
            <a:r>
              <a:rPr lang="en-US" altLang="en-US" sz="2000" dirty="0">
                <a:solidFill>
                  <a:schemeClr val="dk2"/>
                </a:solidFill>
                <a:sym typeface="Fira Code"/>
              </a:rPr>
              <a:t>+</a:t>
            </a:r>
            <a:r>
              <a:rPr lang="en-US" sz="2000" dirty="0">
                <a:solidFill>
                  <a:schemeClr val="dk2"/>
                </a:solidFill>
              </a:rPr>
              <a:t>sample_output.txt</a:t>
            </a:r>
            <a:endParaRPr lang="en-US" altLang="en-US" sz="2000" dirty="0">
              <a:solidFill>
                <a:schemeClr val="dk2"/>
              </a:solidFill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2068424" y="1984000"/>
            <a:ext cx="2985713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PriorityQueue.java</a:t>
            </a:r>
            <a:endParaRPr sz="20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5054137" y="1959800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Contains the main logic for </a:t>
            </a:r>
            <a:r>
              <a:rPr lang="en-U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enqueue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en-U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dequeue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display, and queue operations.</a:t>
            </a:r>
          </a:p>
        </p:txBody>
      </p:sp>
      <p:sp>
        <p:nvSpPr>
          <p:cNvPr id="640" name="Google Shape;640;p34"/>
          <p:cNvSpPr txBox="1"/>
          <p:nvPr/>
        </p:nvSpPr>
        <p:spPr>
          <a:xfrm>
            <a:off x="2505724" y="2706550"/>
            <a:ext cx="2370245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QueueItem.java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5332393" y="2706550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Represents each item stored in the priority queue with its value and priority.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2924775" y="3429125"/>
            <a:ext cx="367553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PriorityQueueTest.java</a:t>
            </a:r>
            <a:endParaRPr sz="20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6797748" y="3453300"/>
            <a:ext cx="2272813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Used to test the functionality of the priority queue.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stCxn id="649" idx="2"/>
            <a:endCxn id="636" idx="1"/>
          </p:cNvCxnSpPr>
          <p:nvPr/>
        </p:nvCxnSpPr>
        <p:spPr>
          <a:xfrm>
            <a:off x="1337875" y="1553675"/>
            <a:ext cx="292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299876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721325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637;p34"/>
          <p:cNvSpPr txBox="1"/>
          <p:nvPr/>
        </p:nvSpPr>
        <p:spPr>
          <a:xfrm>
            <a:off x="3403143" y="1413825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chemeClr val="accent3"/>
                </a:solidFill>
                <a:latin typeface="Fira Code"/>
                <a:ea typeface="Fira Code"/>
                <a:cs typeface="Fira Code"/>
              </a:defRPr>
            </a:lvl1pPr>
          </a:lstStyle>
          <a:p>
            <a:r>
              <a:rPr lang="en-US" dirty="0"/>
              <a:t>Controls the menu and user interaction.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431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&lt;</a:t>
            </a:r>
            <a:r>
              <a:rPr lang="en-US" dirty="0" err="1"/>
              <a:t>Enqueue</a:t>
            </a:r>
            <a:r>
              <a:rPr lang="en-US" dirty="0"/>
              <a:t>&gt; works{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3250" y="2001405"/>
            <a:ext cx="3628255" cy="185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400" dirty="0">
                <a:solidFill>
                  <a:schemeClr val="accent3"/>
                </a:solidFill>
              </a:rPr>
              <a:t>public void </a:t>
            </a:r>
            <a:r>
              <a:rPr lang="en-US" sz="1400" dirty="0" err="1">
                <a:solidFill>
                  <a:schemeClr val="accent3"/>
                </a:solidFill>
              </a:rPr>
              <a:t>enqueue</a:t>
            </a:r>
            <a:r>
              <a:rPr lang="en-US" sz="1400" dirty="0">
                <a:solidFill>
                  <a:schemeClr val="accent3"/>
                </a:solidFill>
              </a:rPr>
              <a:t>(String item, </a:t>
            </a:r>
            <a:r>
              <a:rPr lang="en-US" sz="1400" dirty="0" err="1">
                <a:solidFill>
                  <a:schemeClr val="accent3"/>
                </a:solidFill>
              </a:rPr>
              <a:t>int</a:t>
            </a:r>
            <a:r>
              <a:rPr lang="en-US" sz="1400" dirty="0">
                <a:solidFill>
                  <a:schemeClr val="accent3"/>
                </a:solidFill>
              </a:rPr>
              <a:t> priority)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</a:t>
            </a:r>
            <a:r>
              <a:rPr lang="en-US" sz="1400" dirty="0" err="1">
                <a:solidFill>
                  <a:schemeClr val="accent3"/>
                </a:solidFill>
              </a:rPr>
              <a:t>QueueItem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newItem</a:t>
            </a:r>
            <a:r>
              <a:rPr lang="en-US" sz="1400" dirty="0">
                <a:solidFill>
                  <a:schemeClr val="accent3"/>
                </a:solidFill>
              </a:rPr>
              <a:t> = new </a:t>
            </a:r>
            <a:r>
              <a:rPr lang="en-US" sz="1400" dirty="0" err="1">
                <a:solidFill>
                  <a:schemeClr val="accent3"/>
                </a:solidFill>
              </a:rPr>
              <a:t>QueueItem</a:t>
            </a:r>
            <a:r>
              <a:rPr lang="en-US" sz="1400" dirty="0">
                <a:solidFill>
                  <a:schemeClr val="accent3"/>
                </a:solidFill>
              </a:rPr>
              <a:t>(item, priority);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</a:t>
            </a:r>
            <a:r>
              <a:rPr lang="en-US" sz="1400" dirty="0" err="1">
                <a:solidFill>
                  <a:schemeClr val="accent3"/>
                </a:solidFill>
              </a:rPr>
              <a:t>heap.add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dirty="0" err="1">
                <a:solidFill>
                  <a:schemeClr val="accent3"/>
                </a:solidFill>
              </a:rPr>
              <a:t>newItem</a:t>
            </a:r>
            <a:r>
              <a:rPr lang="en-US" sz="1400" dirty="0">
                <a:solidFill>
                  <a:schemeClr val="accent3"/>
                </a:solidFill>
              </a:rPr>
              <a:t>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</a:t>
            </a:r>
            <a:r>
              <a:rPr lang="en-US" sz="1400" dirty="0" err="1">
                <a:solidFill>
                  <a:schemeClr val="accent3"/>
                </a:solidFill>
              </a:rPr>
              <a:t>heapifyUp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dirty="0" err="1">
                <a:solidFill>
                  <a:schemeClr val="accent3"/>
                </a:solidFill>
              </a:rPr>
              <a:t>heap.size</a:t>
            </a:r>
            <a:r>
              <a:rPr lang="en-US" sz="1400" dirty="0">
                <a:solidFill>
                  <a:schemeClr val="accent3"/>
                </a:solidFill>
              </a:rPr>
              <a:t>() - 1);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036377" y="2073449"/>
            <a:ext cx="3628255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Creates a new queue item.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Adds the item to the heap.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Calls </a:t>
            </a:r>
            <a:r>
              <a:rPr lang="en-US" altLang="en-US" sz="1400" dirty="0" err="1">
                <a:solidFill>
                  <a:schemeClr val="accent3"/>
                </a:solidFill>
              </a:rPr>
              <a:t>heapifyUp</a:t>
            </a:r>
            <a:r>
              <a:rPr lang="en-US" altLang="en-US" sz="1400" dirty="0">
                <a:solidFill>
                  <a:schemeClr val="accent3"/>
                </a:solidFill>
              </a:rPr>
              <a:t>() to move the item to the correct position.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Maintains priority queue order. 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}</a:t>
            </a:r>
          </a:p>
        </p:txBody>
      </p:sp>
      <p:sp>
        <p:nvSpPr>
          <p:cNvPr id="7" name="Google Shape;640;p34"/>
          <p:cNvSpPr txBox="1"/>
          <p:nvPr/>
        </p:nvSpPr>
        <p:spPr>
          <a:xfrm>
            <a:off x="2006961" y="141700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Code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66216" y="1478372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Explanation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58641" y="3851563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185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&lt;</a:t>
            </a:r>
            <a:r>
              <a:rPr lang="en-US" dirty="0" err="1"/>
              <a:t>Dequeue</a:t>
            </a:r>
            <a:r>
              <a:rPr lang="en-US" dirty="0"/>
              <a:t>&gt; works{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93621" y="1368478"/>
            <a:ext cx="5249238" cy="248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200" dirty="0">
                <a:solidFill>
                  <a:schemeClr val="accent3"/>
                </a:solidFill>
              </a:rPr>
              <a:t>public </a:t>
            </a:r>
            <a:r>
              <a:rPr lang="en-US" sz="1200" dirty="0" err="1">
                <a:solidFill>
                  <a:schemeClr val="accent3"/>
                </a:solidFill>
              </a:rPr>
              <a:t>QueueItem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dequeue</a:t>
            </a:r>
            <a:r>
              <a:rPr lang="en-US" sz="1200" dirty="0">
                <a:solidFill>
                  <a:schemeClr val="accent3"/>
                </a:solidFill>
              </a:rPr>
              <a:t>()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if (</a:t>
            </a:r>
            <a:r>
              <a:rPr lang="en-US" sz="1200" dirty="0" err="1">
                <a:solidFill>
                  <a:schemeClr val="accent3"/>
                </a:solidFill>
              </a:rPr>
              <a:t>isEmpty</a:t>
            </a:r>
            <a:r>
              <a:rPr lang="en-US" sz="1200" dirty="0">
                <a:solidFill>
                  <a:schemeClr val="accent3"/>
                </a:solidFill>
              </a:rPr>
              <a:t>())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throw new </a:t>
            </a:r>
            <a:r>
              <a:rPr lang="en-US" sz="1200" dirty="0" err="1">
                <a:solidFill>
                  <a:schemeClr val="accent3"/>
                </a:solidFill>
              </a:rPr>
              <a:t>IllegalStateException</a:t>
            </a:r>
            <a:r>
              <a:rPr lang="en-US" sz="1200" dirty="0">
                <a:solidFill>
                  <a:schemeClr val="accent3"/>
                </a:solidFill>
              </a:rPr>
              <a:t>(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    "Cannot </a:t>
            </a:r>
            <a:r>
              <a:rPr lang="en-US" sz="1200" dirty="0" err="1">
                <a:solidFill>
                  <a:schemeClr val="accent3"/>
                </a:solidFill>
              </a:rPr>
              <a:t>dequeue</a:t>
            </a:r>
            <a:r>
              <a:rPr lang="en-US" sz="1200" dirty="0">
                <a:solidFill>
                  <a:schemeClr val="accent3"/>
                </a:solidFill>
              </a:rPr>
              <a:t> from an empty priority queue.");}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if (</a:t>
            </a:r>
            <a:r>
              <a:rPr lang="en-US" sz="1200" dirty="0" err="1">
                <a:solidFill>
                  <a:schemeClr val="accent3"/>
                </a:solidFill>
              </a:rPr>
              <a:t>heap.size</a:t>
            </a:r>
            <a:r>
              <a:rPr lang="en-US" sz="1200" dirty="0">
                <a:solidFill>
                  <a:schemeClr val="accent3"/>
                </a:solidFill>
              </a:rPr>
              <a:t>() == 1)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return </a:t>
            </a:r>
            <a:r>
              <a:rPr lang="en-US" sz="1200" dirty="0" err="1">
                <a:solidFill>
                  <a:schemeClr val="accent3"/>
                </a:solidFill>
              </a:rPr>
              <a:t>heap.remove</a:t>
            </a:r>
            <a:r>
              <a:rPr lang="en-US" sz="1200" dirty="0">
                <a:solidFill>
                  <a:schemeClr val="accent3"/>
                </a:solidFill>
              </a:rPr>
              <a:t>(0);}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QueueItem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highestPriorityItem</a:t>
            </a:r>
            <a:r>
              <a:rPr lang="en-US" sz="1200" dirty="0">
                <a:solidFill>
                  <a:schemeClr val="accent3"/>
                </a:solidFill>
              </a:rPr>
              <a:t> = </a:t>
            </a:r>
            <a:r>
              <a:rPr lang="en-US" sz="1200" dirty="0" err="1">
                <a:solidFill>
                  <a:schemeClr val="accent3"/>
                </a:solidFill>
              </a:rPr>
              <a:t>heap.get</a:t>
            </a:r>
            <a:r>
              <a:rPr lang="en-US" sz="1200" dirty="0">
                <a:solidFill>
                  <a:schemeClr val="accent3"/>
                </a:solidFill>
              </a:rPr>
              <a:t>(0);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QueueItem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 err="1">
                <a:solidFill>
                  <a:schemeClr val="accent3"/>
                </a:solidFill>
              </a:rPr>
              <a:t>lastItem</a:t>
            </a:r>
            <a:r>
              <a:rPr lang="en-US" sz="1200" dirty="0">
                <a:solidFill>
                  <a:schemeClr val="accent3"/>
                </a:solidFill>
              </a:rPr>
              <a:t> = </a:t>
            </a:r>
            <a:r>
              <a:rPr lang="en-US" sz="1200" dirty="0" err="1">
                <a:solidFill>
                  <a:schemeClr val="accent3"/>
                </a:solidFill>
              </a:rPr>
              <a:t>heap.remove</a:t>
            </a:r>
            <a:r>
              <a:rPr lang="en-US" sz="1200" dirty="0">
                <a:solidFill>
                  <a:schemeClr val="accent3"/>
                </a:solidFill>
              </a:rPr>
              <a:t>(</a:t>
            </a:r>
            <a:r>
              <a:rPr lang="en-US" sz="1200" dirty="0" err="1">
                <a:solidFill>
                  <a:schemeClr val="accent3"/>
                </a:solidFill>
              </a:rPr>
              <a:t>heap.size</a:t>
            </a:r>
            <a:r>
              <a:rPr lang="en-US" sz="1200" dirty="0">
                <a:solidFill>
                  <a:schemeClr val="accent3"/>
                </a:solidFill>
              </a:rPr>
              <a:t>() - 1);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heap.set</a:t>
            </a:r>
            <a:r>
              <a:rPr lang="en-US" sz="1200" dirty="0">
                <a:solidFill>
                  <a:schemeClr val="accent3"/>
                </a:solidFill>
              </a:rPr>
              <a:t>(0, </a:t>
            </a:r>
            <a:r>
              <a:rPr lang="en-US" sz="1200" dirty="0" err="1">
                <a:solidFill>
                  <a:schemeClr val="accent3"/>
                </a:solidFill>
              </a:rPr>
              <a:t>lastItem</a:t>
            </a:r>
            <a:r>
              <a:rPr lang="en-US" sz="1200" dirty="0">
                <a:solidFill>
                  <a:schemeClr val="accent3"/>
                </a:solidFill>
              </a:rPr>
              <a:t>);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heapifyDown</a:t>
            </a:r>
            <a:r>
              <a:rPr lang="en-US" sz="1200" dirty="0">
                <a:solidFill>
                  <a:schemeClr val="accent3"/>
                </a:solidFill>
              </a:rPr>
              <a:t>(0);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return </a:t>
            </a:r>
            <a:r>
              <a:rPr lang="en-US" sz="1200" dirty="0" err="1">
                <a:solidFill>
                  <a:schemeClr val="accent3"/>
                </a:solidFill>
              </a:rPr>
              <a:t>highestPriorityItem</a:t>
            </a:r>
            <a:r>
              <a:rPr lang="en-US" sz="1200" dirty="0">
                <a:solidFill>
                  <a:schemeClr val="accent3"/>
                </a:solidFill>
              </a:rPr>
              <a:t>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13984" y="1613987"/>
            <a:ext cx="2713706" cy="237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accent3"/>
                </a:solidFill>
              </a:rPr>
              <a:t>Checks if the queue is empty.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accent3"/>
                </a:solidFill>
              </a:rPr>
              <a:t>Removes the highest-priority item from the root.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accent3"/>
                </a:solidFill>
              </a:rPr>
              <a:t>Replaces it with the last item.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>
                <a:solidFill>
                  <a:schemeClr val="accent3"/>
                </a:solidFill>
              </a:rPr>
              <a:t>Calls </a:t>
            </a:r>
            <a:r>
              <a:rPr lang="en-US" altLang="en-US" sz="1200" dirty="0" err="1">
                <a:solidFill>
                  <a:schemeClr val="accent3"/>
                </a:solidFill>
              </a:rPr>
              <a:t>heapifyDown</a:t>
            </a:r>
            <a:r>
              <a:rPr lang="en-US" altLang="en-US" sz="1200" dirty="0">
                <a:solidFill>
                  <a:schemeClr val="accent3"/>
                </a:solidFill>
              </a:rPr>
              <a:t>() to restore heap order.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200" dirty="0">
              <a:solidFill>
                <a:schemeClr val="accent3"/>
              </a:solidFill>
            </a:endParaRPr>
          </a:p>
        </p:txBody>
      </p:sp>
      <p:sp>
        <p:nvSpPr>
          <p:cNvPr id="7" name="Google Shape;640;p34"/>
          <p:cNvSpPr txBox="1"/>
          <p:nvPr/>
        </p:nvSpPr>
        <p:spPr>
          <a:xfrm>
            <a:off x="1870363" y="1090384"/>
            <a:ext cx="1371600" cy="3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Code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3984" y="1091977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Explanation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58641" y="3851563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9111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&lt;Peek&gt; works{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258641" y="1673822"/>
            <a:ext cx="3503564" cy="248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400" dirty="0">
                <a:solidFill>
                  <a:schemeClr val="accent3"/>
                </a:solidFill>
              </a:rPr>
              <a:t>public </a:t>
            </a:r>
            <a:r>
              <a:rPr lang="en-US" sz="1400" dirty="0" err="1">
                <a:solidFill>
                  <a:schemeClr val="accent3"/>
                </a:solidFill>
              </a:rPr>
              <a:t>QueueItem</a:t>
            </a:r>
            <a:r>
              <a:rPr lang="en-US" sz="1400" dirty="0">
                <a:solidFill>
                  <a:schemeClr val="accent3"/>
                </a:solidFill>
              </a:rPr>
              <a:t> peek()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if (</a:t>
            </a:r>
            <a:r>
              <a:rPr lang="en-US" sz="1400" dirty="0" err="1">
                <a:solidFill>
                  <a:schemeClr val="accent3"/>
                </a:solidFill>
              </a:rPr>
              <a:t>isEmpty</a:t>
            </a:r>
            <a:r>
              <a:rPr lang="en-US" sz="1400" dirty="0">
                <a:solidFill>
                  <a:schemeClr val="accent3"/>
                </a:solidFill>
              </a:rPr>
              <a:t>())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throw new </a:t>
            </a:r>
            <a:r>
              <a:rPr lang="en-US" sz="1400" dirty="0" err="1">
                <a:solidFill>
                  <a:schemeClr val="accent3"/>
                </a:solidFill>
              </a:rPr>
              <a:t>IllegalStateException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    "Cannot peek from an empty priority queue.");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}</a:t>
            </a:r>
          </a:p>
          <a:p>
            <a:endParaRPr lang="en-US" sz="1400" dirty="0">
              <a:solidFill>
                <a:schemeClr val="accent3"/>
              </a:solidFill>
            </a:endParaRPr>
          </a:p>
          <a:p>
            <a:r>
              <a:rPr lang="en-US" sz="1400" dirty="0">
                <a:solidFill>
                  <a:schemeClr val="accent3"/>
                </a:solidFill>
              </a:rPr>
              <a:t>    return </a:t>
            </a:r>
            <a:r>
              <a:rPr lang="en-US" sz="1400" dirty="0" err="1">
                <a:solidFill>
                  <a:schemeClr val="accent3"/>
                </a:solidFill>
              </a:rPr>
              <a:t>heap.get</a:t>
            </a:r>
            <a:r>
              <a:rPr lang="en-US" sz="1400" dirty="0">
                <a:solidFill>
                  <a:schemeClr val="accent3"/>
                </a:solidFill>
              </a:rPr>
              <a:t>(0);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835535" y="1810241"/>
            <a:ext cx="2713706" cy="237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Returns the highest-priority item.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Does not remove the item.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The root of the heap always contains the highest priority.</a:t>
            </a:r>
            <a:endParaRPr lang="en-US" altLang="en-US" sz="1200" dirty="0">
              <a:solidFill>
                <a:schemeClr val="accent3"/>
              </a:solidFill>
            </a:endParaRPr>
          </a:p>
        </p:txBody>
      </p:sp>
      <p:sp>
        <p:nvSpPr>
          <p:cNvPr id="7" name="Google Shape;640;p34"/>
          <p:cNvSpPr txBox="1"/>
          <p:nvPr/>
        </p:nvSpPr>
        <p:spPr>
          <a:xfrm>
            <a:off x="1953489" y="1268536"/>
            <a:ext cx="1371600" cy="3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Code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31104" y="1236238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Explanation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58641" y="3851563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823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&lt;Display&gt; works{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258640" y="1673822"/>
            <a:ext cx="4344138" cy="248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400" dirty="0">
                <a:solidFill>
                  <a:schemeClr val="accent3"/>
                </a:solidFill>
              </a:rPr>
              <a:t>public void display()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if (</a:t>
            </a:r>
            <a:r>
              <a:rPr lang="en-US" sz="1400" dirty="0" err="1">
                <a:solidFill>
                  <a:schemeClr val="accent3"/>
                </a:solidFill>
              </a:rPr>
              <a:t>isEmpty</a:t>
            </a:r>
            <a:r>
              <a:rPr lang="en-US" sz="1400" dirty="0">
                <a:solidFill>
                  <a:schemeClr val="accent3"/>
                </a:solidFill>
              </a:rPr>
              <a:t>())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</a:t>
            </a:r>
            <a:r>
              <a:rPr lang="en-US" sz="1400" dirty="0" err="1">
                <a:solidFill>
                  <a:schemeClr val="accent3"/>
                </a:solidFill>
              </a:rPr>
              <a:t>System.out.println</a:t>
            </a:r>
            <a:r>
              <a:rPr lang="en-US" sz="1400" dirty="0">
                <a:solidFill>
                  <a:schemeClr val="accent3"/>
                </a:solidFill>
              </a:rPr>
              <a:t>("Priority queue is empty.");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return;}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</a:t>
            </a:r>
            <a:r>
              <a:rPr lang="en-US" sz="1400" dirty="0" err="1">
                <a:solidFill>
                  <a:schemeClr val="accent3"/>
                </a:solidFill>
              </a:rPr>
              <a:t>System.out.println</a:t>
            </a:r>
            <a:r>
              <a:rPr lang="en-US" sz="1400" dirty="0">
                <a:solidFill>
                  <a:schemeClr val="accent3"/>
                </a:solidFill>
              </a:rPr>
              <a:t>("Current Priority Queue:");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for (</a:t>
            </a:r>
            <a:r>
              <a:rPr lang="en-US" sz="1400" dirty="0" err="1">
                <a:solidFill>
                  <a:schemeClr val="accent3"/>
                </a:solidFill>
              </a:rPr>
              <a:t>QueueItem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queueItem</a:t>
            </a:r>
            <a:r>
              <a:rPr lang="en-US" sz="1400" dirty="0">
                <a:solidFill>
                  <a:schemeClr val="accent3"/>
                </a:solidFill>
              </a:rPr>
              <a:t> : heap)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</a:t>
            </a:r>
            <a:r>
              <a:rPr lang="en-US" sz="1400" dirty="0" err="1">
                <a:solidFill>
                  <a:schemeClr val="accent3"/>
                </a:solidFill>
              </a:rPr>
              <a:t>System.out.println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dirty="0" err="1">
                <a:solidFill>
                  <a:schemeClr val="accent3"/>
                </a:solidFill>
              </a:rPr>
              <a:t>queueItem</a:t>
            </a:r>
            <a:r>
              <a:rPr lang="en-US" sz="1400" dirty="0">
                <a:solidFill>
                  <a:schemeClr val="accent3"/>
                </a:solidFill>
              </a:rPr>
              <a:t>);}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835535" y="1810241"/>
            <a:ext cx="2713706" cy="237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Checks whether the queue is empty.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Uses a loop to print all queue items.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Displays current queue contents.</a:t>
            </a:r>
            <a:endParaRPr lang="en-US" altLang="en-US" sz="1200" dirty="0">
              <a:solidFill>
                <a:schemeClr val="accent3"/>
              </a:solidFill>
            </a:endParaRPr>
          </a:p>
        </p:txBody>
      </p:sp>
      <p:sp>
        <p:nvSpPr>
          <p:cNvPr id="7" name="Google Shape;640;p34"/>
          <p:cNvSpPr txBox="1"/>
          <p:nvPr/>
        </p:nvSpPr>
        <p:spPr>
          <a:xfrm>
            <a:off x="1953489" y="1268536"/>
            <a:ext cx="1371600" cy="3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Code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31104" y="1236238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Explanation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58641" y="3851563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281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&lt;</a:t>
            </a:r>
            <a:r>
              <a:rPr lang="en-US" dirty="0" err="1"/>
              <a:t>HeapifyUp</a:t>
            </a:r>
            <a:r>
              <a:rPr lang="en-US" dirty="0"/>
              <a:t>&gt; works{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017570" y="1589360"/>
            <a:ext cx="4718212" cy="248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400" dirty="0">
                <a:solidFill>
                  <a:schemeClr val="accent3"/>
                </a:solidFill>
              </a:rPr>
              <a:t>private void </a:t>
            </a:r>
            <a:r>
              <a:rPr lang="en-US" sz="1400" dirty="0" err="1">
                <a:solidFill>
                  <a:schemeClr val="accent3"/>
                </a:solidFill>
              </a:rPr>
              <a:t>heapifyUp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dirty="0" err="1">
                <a:solidFill>
                  <a:schemeClr val="accent3"/>
                </a:solidFill>
              </a:rPr>
              <a:t>int</a:t>
            </a:r>
            <a:r>
              <a:rPr lang="en-US" sz="1400" dirty="0">
                <a:solidFill>
                  <a:schemeClr val="accent3"/>
                </a:solidFill>
              </a:rPr>
              <a:t> index)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while (index &gt; 0)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</a:t>
            </a:r>
            <a:r>
              <a:rPr lang="en-US" sz="1400" dirty="0" err="1">
                <a:solidFill>
                  <a:schemeClr val="accent3"/>
                </a:solidFill>
              </a:rPr>
              <a:t>int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parentIndex</a:t>
            </a:r>
            <a:r>
              <a:rPr lang="en-US" sz="1400" dirty="0">
                <a:solidFill>
                  <a:schemeClr val="accent3"/>
                </a:solidFill>
              </a:rPr>
              <a:t> = (index - 1) / 2;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if (</a:t>
            </a:r>
            <a:r>
              <a:rPr lang="en-US" sz="1400" dirty="0" err="1">
                <a:solidFill>
                  <a:schemeClr val="accent3"/>
                </a:solidFill>
              </a:rPr>
              <a:t>heap.get</a:t>
            </a:r>
            <a:r>
              <a:rPr lang="en-US" sz="1400" dirty="0">
                <a:solidFill>
                  <a:schemeClr val="accent3"/>
                </a:solidFill>
              </a:rPr>
              <a:t>(index).</a:t>
            </a:r>
            <a:r>
              <a:rPr lang="en-US" sz="1400" dirty="0" err="1">
                <a:solidFill>
                  <a:schemeClr val="accent3"/>
                </a:solidFill>
              </a:rPr>
              <a:t>getPriority</a:t>
            </a:r>
            <a:r>
              <a:rPr lang="en-US" sz="1400" dirty="0">
                <a:solidFill>
                  <a:schemeClr val="accent3"/>
                </a:solidFill>
              </a:rPr>
              <a:t>()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    &lt; </a:t>
            </a:r>
            <a:r>
              <a:rPr lang="en-US" sz="1400" dirty="0" err="1">
                <a:solidFill>
                  <a:schemeClr val="accent3"/>
                </a:solidFill>
              </a:rPr>
              <a:t>heap.get</a:t>
            </a:r>
            <a:r>
              <a:rPr lang="en-US" sz="1400" dirty="0">
                <a:solidFill>
                  <a:schemeClr val="accent3"/>
                </a:solidFill>
              </a:rPr>
              <a:t>(</a:t>
            </a:r>
            <a:r>
              <a:rPr lang="en-US" sz="1400" dirty="0" err="1">
                <a:solidFill>
                  <a:schemeClr val="accent3"/>
                </a:solidFill>
              </a:rPr>
              <a:t>parentIndex</a:t>
            </a:r>
            <a:r>
              <a:rPr lang="en-US" sz="1400" dirty="0">
                <a:solidFill>
                  <a:schemeClr val="accent3"/>
                </a:solidFill>
              </a:rPr>
              <a:t>).</a:t>
            </a:r>
            <a:r>
              <a:rPr lang="en-US" sz="1400" dirty="0" err="1">
                <a:solidFill>
                  <a:schemeClr val="accent3"/>
                </a:solidFill>
              </a:rPr>
              <a:t>getPriority</a:t>
            </a:r>
            <a:r>
              <a:rPr lang="en-US" sz="1400" dirty="0">
                <a:solidFill>
                  <a:schemeClr val="accent3"/>
                </a:solidFill>
              </a:rPr>
              <a:t>())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    swap(index, </a:t>
            </a:r>
            <a:r>
              <a:rPr lang="en-US" sz="1400" dirty="0" err="1">
                <a:solidFill>
                  <a:schemeClr val="accent3"/>
                </a:solidFill>
              </a:rPr>
              <a:t>parentIndex</a:t>
            </a:r>
            <a:r>
              <a:rPr lang="en-US" sz="1400" dirty="0">
                <a:solidFill>
                  <a:schemeClr val="accent3"/>
                </a:solidFill>
              </a:rPr>
              <a:t>);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    index = </a:t>
            </a:r>
            <a:r>
              <a:rPr lang="en-US" sz="1400" dirty="0" err="1">
                <a:solidFill>
                  <a:schemeClr val="accent3"/>
                </a:solidFill>
              </a:rPr>
              <a:t>parentIndex</a:t>
            </a:r>
            <a:r>
              <a:rPr lang="en-US" sz="1400" dirty="0">
                <a:solidFill>
                  <a:schemeClr val="accent3"/>
                </a:solidFill>
              </a:rPr>
              <a:t>;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} else {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            break}    }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835535" y="1810241"/>
            <a:ext cx="2713706" cy="237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Compares a child node with its parent.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Swaps them if the child has higher priority.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Moves the item upward until heap order is correct.</a:t>
            </a:r>
            <a:endParaRPr lang="en-US" altLang="en-US" sz="1200" dirty="0">
              <a:solidFill>
                <a:schemeClr val="accent3"/>
              </a:solidFill>
            </a:endParaRPr>
          </a:p>
        </p:txBody>
      </p:sp>
      <p:sp>
        <p:nvSpPr>
          <p:cNvPr id="7" name="Google Shape;640;p34"/>
          <p:cNvSpPr txBox="1"/>
          <p:nvPr/>
        </p:nvSpPr>
        <p:spPr>
          <a:xfrm>
            <a:off x="1953489" y="1268536"/>
            <a:ext cx="1371600" cy="3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Code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31104" y="1236238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Explanation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58641" y="3851563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9205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&lt;</a:t>
            </a:r>
            <a:r>
              <a:rPr lang="en-US" dirty="0" err="1"/>
              <a:t>HeapifyDown</a:t>
            </a:r>
            <a:r>
              <a:rPr lang="en-US" dirty="0"/>
              <a:t>&gt; works{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017569" y="1364916"/>
            <a:ext cx="4277638" cy="4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200" dirty="0">
                <a:solidFill>
                  <a:schemeClr val="accent3"/>
                </a:solidFill>
              </a:rPr>
              <a:t>private void </a:t>
            </a:r>
            <a:r>
              <a:rPr lang="en-US" sz="1200" dirty="0" err="1">
                <a:solidFill>
                  <a:schemeClr val="accent3"/>
                </a:solidFill>
              </a:rPr>
              <a:t>heapifyDown</a:t>
            </a:r>
            <a:r>
              <a:rPr lang="en-US" sz="1200" dirty="0">
                <a:solidFill>
                  <a:schemeClr val="accent3"/>
                </a:solidFill>
              </a:rPr>
              <a:t>(</a:t>
            </a:r>
            <a:r>
              <a:rPr lang="en-US" sz="1200" dirty="0" err="1">
                <a:solidFill>
                  <a:schemeClr val="accent3"/>
                </a:solidFill>
              </a:rPr>
              <a:t>int</a:t>
            </a:r>
            <a:r>
              <a:rPr lang="en-US" sz="1200" dirty="0">
                <a:solidFill>
                  <a:schemeClr val="accent3"/>
                </a:solidFill>
              </a:rPr>
              <a:t> index)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int</a:t>
            </a:r>
            <a:r>
              <a:rPr lang="en-US" sz="1200" dirty="0">
                <a:solidFill>
                  <a:schemeClr val="accent3"/>
                </a:solidFill>
              </a:rPr>
              <a:t> smallest = index;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int</a:t>
            </a:r>
            <a:r>
              <a:rPr lang="en-US" sz="1200" dirty="0">
                <a:solidFill>
                  <a:schemeClr val="accent3"/>
                </a:solidFill>
              </a:rPr>
              <a:t> left = 2 * index + 1;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</a:t>
            </a:r>
            <a:r>
              <a:rPr lang="en-US" sz="1200" dirty="0" err="1">
                <a:solidFill>
                  <a:schemeClr val="accent3"/>
                </a:solidFill>
              </a:rPr>
              <a:t>int</a:t>
            </a:r>
            <a:r>
              <a:rPr lang="en-US" sz="1200" dirty="0">
                <a:solidFill>
                  <a:schemeClr val="accent3"/>
                </a:solidFill>
              </a:rPr>
              <a:t> right = 2 * index + 2;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if (left &lt; </a:t>
            </a:r>
            <a:r>
              <a:rPr lang="en-US" sz="1200" dirty="0" err="1">
                <a:solidFill>
                  <a:schemeClr val="accent3"/>
                </a:solidFill>
              </a:rPr>
              <a:t>heap.size</a:t>
            </a:r>
            <a:r>
              <a:rPr lang="en-US" sz="1200" dirty="0">
                <a:solidFill>
                  <a:schemeClr val="accent3"/>
                </a:solidFill>
              </a:rPr>
              <a:t>() &amp;&amp;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</a:t>
            </a:r>
            <a:r>
              <a:rPr lang="en-US" sz="1200" dirty="0" err="1">
                <a:solidFill>
                  <a:schemeClr val="accent3"/>
                </a:solidFill>
              </a:rPr>
              <a:t>heap.get</a:t>
            </a:r>
            <a:r>
              <a:rPr lang="en-US" sz="1200" dirty="0">
                <a:solidFill>
                  <a:schemeClr val="accent3"/>
                </a:solidFill>
              </a:rPr>
              <a:t>(left).</a:t>
            </a:r>
            <a:r>
              <a:rPr lang="en-US" sz="1200" dirty="0" err="1">
                <a:solidFill>
                  <a:schemeClr val="accent3"/>
                </a:solidFill>
              </a:rPr>
              <a:t>getPriority</a:t>
            </a:r>
            <a:r>
              <a:rPr lang="en-US" sz="1200" dirty="0">
                <a:solidFill>
                  <a:schemeClr val="accent3"/>
                </a:solidFill>
              </a:rPr>
              <a:t>()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&lt; </a:t>
            </a:r>
            <a:r>
              <a:rPr lang="en-US" sz="1200" dirty="0" err="1">
                <a:solidFill>
                  <a:schemeClr val="accent3"/>
                </a:solidFill>
              </a:rPr>
              <a:t>heap.get</a:t>
            </a:r>
            <a:r>
              <a:rPr lang="en-US" sz="1200" dirty="0">
                <a:solidFill>
                  <a:schemeClr val="accent3"/>
                </a:solidFill>
              </a:rPr>
              <a:t>(smallest).</a:t>
            </a:r>
            <a:r>
              <a:rPr lang="en-US" sz="1200" dirty="0" err="1">
                <a:solidFill>
                  <a:schemeClr val="accent3"/>
                </a:solidFill>
              </a:rPr>
              <a:t>getPriority</a:t>
            </a:r>
            <a:r>
              <a:rPr lang="en-US" sz="1200" dirty="0">
                <a:solidFill>
                  <a:schemeClr val="accent3"/>
                </a:solidFill>
              </a:rPr>
              <a:t>())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smallest = left;}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if (right &lt; </a:t>
            </a:r>
            <a:r>
              <a:rPr lang="en-US" sz="1200" dirty="0" err="1">
                <a:solidFill>
                  <a:schemeClr val="accent3"/>
                </a:solidFill>
              </a:rPr>
              <a:t>heap.size</a:t>
            </a:r>
            <a:r>
              <a:rPr lang="en-US" sz="1200" dirty="0">
                <a:solidFill>
                  <a:schemeClr val="accent3"/>
                </a:solidFill>
              </a:rPr>
              <a:t>() &amp;&amp;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</a:t>
            </a:r>
            <a:r>
              <a:rPr lang="en-US" sz="1200" dirty="0" err="1">
                <a:solidFill>
                  <a:schemeClr val="accent3"/>
                </a:solidFill>
              </a:rPr>
              <a:t>heap.get</a:t>
            </a:r>
            <a:r>
              <a:rPr lang="en-US" sz="1200" dirty="0">
                <a:solidFill>
                  <a:schemeClr val="accent3"/>
                </a:solidFill>
              </a:rPr>
              <a:t>(right).</a:t>
            </a:r>
            <a:r>
              <a:rPr lang="en-US" sz="1200" dirty="0" err="1">
                <a:solidFill>
                  <a:schemeClr val="accent3"/>
                </a:solidFill>
              </a:rPr>
              <a:t>getPriority</a:t>
            </a:r>
            <a:r>
              <a:rPr lang="en-US" sz="1200" dirty="0">
                <a:solidFill>
                  <a:schemeClr val="accent3"/>
                </a:solidFill>
              </a:rPr>
              <a:t>()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&lt; </a:t>
            </a:r>
            <a:r>
              <a:rPr lang="en-US" sz="1200" dirty="0" err="1">
                <a:solidFill>
                  <a:schemeClr val="accent3"/>
                </a:solidFill>
              </a:rPr>
              <a:t>heap.get</a:t>
            </a:r>
            <a:r>
              <a:rPr lang="en-US" sz="1200" dirty="0">
                <a:solidFill>
                  <a:schemeClr val="accent3"/>
                </a:solidFill>
              </a:rPr>
              <a:t>(smallest).</a:t>
            </a:r>
            <a:r>
              <a:rPr lang="en-US" sz="1200" dirty="0" err="1">
                <a:solidFill>
                  <a:schemeClr val="accent3"/>
                </a:solidFill>
              </a:rPr>
              <a:t>getPriority</a:t>
            </a:r>
            <a:r>
              <a:rPr lang="en-US" sz="1200" dirty="0">
                <a:solidFill>
                  <a:schemeClr val="accent3"/>
                </a:solidFill>
              </a:rPr>
              <a:t>())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smallest = right;}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if (smallest != index) {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swap(index, smallest);</a:t>
            </a:r>
          </a:p>
          <a:p>
            <a:r>
              <a:rPr lang="en-US" sz="1200" dirty="0">
                <a:solidFill>
                  <a:schemeClr val="accent3"/>
                </a:solidFill>
              </a:rPr>
              <a:t>        </a:t>
            </a:r>
            <a:r>
              <a:rPr lang="en-US" sz="1200" dirty="0" err="1">
                <a:solidFill>
                  <a:schemeClr val="accent3"/>
                </a:solidFill>
              </a:rPr>
              <a:t>heapifyDown</a:t>
            </a:r>
            <a:r>
              <a:rPr lang="en-US" sz="1200" dirty="0">
                <a:solidFill>
                  <a:schemeClr val="accent3"/>
                </a:solidFill>
              </a:rPr>
              <a:t>(smallest);} 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835535" y="1810241"/>
            <a:ext cx="2713706" cy="237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Checks left and right child nodes.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Finds the smallest priority value.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Swaps nodes if needed.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accent3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accent3"/>
                </a:solidFill>
              </a:rPr>
              <a:t>Restores heap structure after removal.</a:t>
            </a:r>
            <a:endParaRPr lang="en-US" altLang="en-US" sz="1200" dirty="0">
              <a:solidFill>
                <a:schemeClr val="accent3"/>
              </a:solidFill>
            </a:endParaRPr>
          </a:p>
        </p:txBody>
      </p:sp>
      <p:sp>
        <p:nvSpPr>
          <p:cNvPr id="7" name="Google Shape;640;p34"/>
          <p:cNvSpPr txBox="1"/>
          <p:nvPr/>
        </p:nvSpPr>
        <p:spPr>
          <a:xfrm>
            <a:off x="1986740" y="1093400"/>
            <a:ext cx="1371600" cy="33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Code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31104" y="1236238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4161518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825" name="Google Shape;825;p40"/>
          <p:cNvCxnSpPr>
            <a:cxnSpLocks/>
          </p:cNvCxnSpPr>
          <p:nvPr/>
        </p:nvCxnSpPr>
        <p:spPr>
          <a:xfrm>
            <a:off x="2797800" y="2876338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8AEF2-4F02-4049-AA92-1B4CD23B1E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8" r="11291"/>
          <a:stretch/>
        </p:blipFill>
        <p:spPr>
          <a:xfrm>
            <a:off x="69744" y="735405"/>
            <a:ext cx="4572000" cy="3243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49DF88-9624-4715-95BC-3AFABC2B86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04" r="12188"/>
          <a:stretch/>
        </p:blipFill>
        <p:spPr>
          <a:xfrm>
            <a:off x="4463510" y="1331641"/>
            <a:ext cx="4723419" cy="32398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AC28C7-960D-4F5E-808D-0571EC99ECE9}"/>
              </a:ext>
            </a:extLst>
          </p:cNvPr>
          <p:cNvSpPr txBox="1"/>
          <p:nvPr/>
        </p:nvSpPr>
        <p:spPr>
          <a:xfrm>
            <a:off x="3" y="310368"/>
            <a:ext cx="4602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5858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MAIN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88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825" name="Google Shape;825;p40"/>
          <p:cNvCxnSpPr>
            <a:cxnSpLocks/>
          </p:cNvCxnSpPr>
          <p:nvPr/>
        </p:nvCxnSpPr>
        <p:spPr>
          <a:xfrm>
            <a:off x="2797800" y="2876338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C28C7-960D-4F5E-808D-0571EC99ECE9}"/>
              </a:ext>
            </a:extLst>
          </p:cNvPr>
          <p:cNvSpPr txBox="1"/>
          <p:nvPr/>
        </p:nvSpPr>
        <p:spPr>
          <a:xfrm>
            <a:off x="3" y="310368"/>
            <a:ext cx="4602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5858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OUTPUT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43732-7390-4193-A1CC-A456DAF6A2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614"/>
          <a:stretch/>
        </p:blipFill>
        <p:spPr>
          <a:xfrm>
            <a:off x="0" y="692519"/>
            <a:ext cx="3916545" cy="3929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01E0FD-2A98-441D-8914-406BBBDD56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204" b="24460"/>
          <a:stretch/>
        </p:blipFill>
        <p:spPr>
          <a:xfrm>
            <a:off x="4016609" y="2219911"/>
            <a:ext cx="4959120" cy="259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80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92A3-2725-420B-837B-DF12B2B1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855" y="1194150"/>
            <a:ext cx="6862045" cy="2091216"/>
          </a:xfrm>
        </p:spPr>
        <p:txBody>
          <a:bodyPr/>
          <a:lstStyle/>
          <a:p>
            <a:r>
              <a:rPr lang="en-US" sz="8000" b="1" dirty="0"/>
              <a:t>THANK YOU!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A1EC0-570C-4C67-AF86-36E9DCED3D63}"/>
              </a:ext>
            </a:extLst>
          </p:cNvPr>
          <p:cNvSpPr txBox="1"/>
          <p:nvPr/>
        </p:nvSpPr>
        <p:spPr>
          <a:xfrm>
            <a:off x="3459345" y="276799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2800"/>
              <a:buFont typeface="Fira Code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orked by:Joana Taraj, Sibora Hysenaj, Abigeil Zenelaj</a:t>
            </a:r>
          </a:p>
        </p:txBody>
      </p:sp>
      <p:sp>
        <p:nvSpPr>
          <p:cNvPr id="4" name="Google Shape;460;p27"/>
          <p:cNvSpPr txBox="1">
            <a:spLocks/>
          </p:cNvSpPr>
          <p:nvPr/>
        </p:nvSpPr>
        <p:spPr>
          <a:xfrm>
            <a:off x="1255221" y="4680558"/>
            <a:ext cx="761445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sz="1400" dirty="0" smtClean="0"/>
              <a:t>Project GitHub link: https</a:t>
            </a:r>
            <a:r>
              <a:rPr lang="en-US" sz="1400" dirty="0"/>
              <a:t>://github.com/jtaraj-create/JavaProject</a:t>
            </a:r>
          </a:p>
        </p:txBody>
      </p:sp>
    </p:spTree>
    <p:extLst>
      <p:ext uri="{BB962C8B-B14F-4D97-AF65-F5344CB8AC3E}">
        <p14:creationId xmlns:p14="http://schemas.microsoft.com/office/powerpoint/2010/main" val="3680641564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843</Words>
  <Application>Microsoft Office PowerPoint</Application>
  <PresentationFormat>On-screen Show (16:9)</PresentationFormat>
  <Paragraphs>205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Fira Code</vt:lpstr>
      <vt:lpstr>Arial</vt:lpstr>
      <vt:lpstr>Programming Language Workshop for Beginners by Slidesgo</vt:lpstr>
      <vt:lpstr>Priority Queue {</vt:lpstr>
      <vt:lpstr>01 {</vt:lpstr>
      <vt:lpstr>Concepts &lt; /1 &gt; { </vt:lpstr>
      <vt:lpstr>What Is this ‘Project About ?’ {</vt:lpstr>
      <vt:lpstr>Operations of ‘the Menu’ {</vt:lpstr>
      <vt:lpstr>Tools used on ‘The Project’{</vt:lpstr>
      <vt:lpstr>Structure of ‘the Project’ {</vt:lpstr>
      <vt:lpstr>How &lt;Enqueue&gt; works{</vt:lpstr>
      <vt:lpstr>How &lt;Dequeue&gt; works{</vt:lpstr>
      <vt:lpstr>How &lt;Peek&gt; works{</vt:lpstr>
      <vt:lpstr>How &lt;Display&gt; works{</vt:lpstr>
      <vt:lpstr>How &lt;HeapifyUp&gt; works{</vt:lpstr>
      <vt:lpstr>How &lt;HeapifyDown&gt; works{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Priority Queue {</dc:title>
  <cp:lastModifiedBy>User</cp:lastModifiedBy>
  <cp:revision>12</cp:revision>
  <dcterms:modified xsi:type="dcterms:W3CDTF">2026-05-24T20:37:11Z</dcterms:modified>
</cp:coreProperties>
</file>